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1830142861" r:id="rId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397D"/>
    <a:srgbClr val="FFFFFF"/>
    <a:srgbClr val="E8E4E5"/>
    <a:srgbClr val="DD31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66" autoAdjust="0"/>
    <p:restoredTop sz="94660"/>
  </p:normalViewPr>
  <p:slideViewPr>
    <p:cSldViewPr>
      <p:cViewPr varScale="1">
        <p:scale>
          <a:sx n="113" d="100"/>
          <a:sy n="113" d="100"/>
        </p:scale>
        <p:origin x="432" y="77"/>
      </p:cViewPr>
      <p:guideLst>
        <p:guide orient="horz"/>
        <p:guide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7086"/>
    </p:cViewPr>
  </p:sorterViewPr>
  <p:notesViewPr>
    <p:cSldViewPr showGuides="1">
      <p:cViewPr varScale="1">
        <p:scale>
          <a:sx n="67" d="100"/>
          <a:sy n="67" d="100"/>
        </p:scale>
        <p:origin x="-3168" y="-8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40BE15-B219-455C-925B-3ECFBC126D1E}" type="datetimeFigureOut">
              <a:rPr lang="en-IN" smtClean="0"/>
              <a:t>13-04-2022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E88576-3CFD-49D7-AA59-A210A7851C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00678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571802-8278-40A4-AF5A-6E98D7DEF830}" type="datetimeFigureOut">
              <a:rPr lang="en-US" smtClean="0"/>
              <a:t>4/13/2022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AA3A65-825A-4F77-9D3F-E239C1633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443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3562350"/>
            <a:ext cx="9144000" cy="990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Corbel" panose="020B0503020204020204" pitchFamily="34" charset="0"/>
            </a:endParaRP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4038600" y="3714750"/>
            <a:ext cx="0" cy="6858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3" descr="D:\VJ GDrive\Work\Prodapt About\Prodapt Brand Guidelines\prodapt_logo_red_with poweri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766505"/>
            <a:ext cx="2590800" cy="557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191000" y="3588228"/>
            <a:ext cx="4547913" cy="457199"/>
          </a:xfrm>
        </p:spPr>
        <p:txBody>
          <a:bodyPr/>
          <a:lstStyle>
            <a:lvl1pPr algn="l">
              <a:defRPr lang="en-US" sz="2400" b="1" i="0" kern="1200" dirty="0">
                <a:solidFill>
                  <a:srgbClr val="29397D"/>
                </a:solidFill>
                <a:latin typeface="Corbel" panose="020B0503020204020204" pitchFamily="34" charset="0"/>
                <a:ea typeface="+mj-ea"/>
                <a:cs typeface="Corbel" panose="020B05030202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191000" y="4095750"/>
            <a:ext cx="4572000" cy="381000"/>
          </a:xfrm>
        </p:spPr>
        <p:txBody>
          <a:bodyPr>
            <a:noAutofit/>
          </a:bodyPr>
          <a:lstStyle>
            <a:lvl1pPr marL="342900" indent="-342900">
              <a:buNone/>
              <a:defRPr lang="en-US" sz="1600" dirty="0" smtClean="0">
                <a:solidFill>
                  <a:schemeClr val="bg1"/>
                </a:solidFill>
                <a:latin typeface="Corbel" panose="020B0503020204020204" pitchFamily="34" charset="0"/>
              </a:defRPr>
            </a:lvl1pPr>
            <a:lvl2pPr>
              <a:defRPr lang="en-US" dirty="0" smtClean="0">
                <a:solidFill>
                  <a:schemeClr val="tx1">
                    <a:tint val="75000"/>
                  </a:schemeClr>
                </a:solidFill>
                <a:latin typeface="Corbel" pitchFamily="34" charset="0"/>
              </a:defRPr>
            </a:lvl2pPr>
            <a:lvl3pPr>
              <a:defRPr lang="en-US" dirty="0" smtClean="0">
                <a:solidFill>
                  <a:schemeClr val="tx1">
                    <a:tint val="75000"/>
                  </a:schemeClr>
                </a:solidFill>
                <a:latin typeface="Corbel" pitchFamily="34" charset="0"/>
              </a:defRPr>
            </a:lvl3pPr>
            <a:lvl4pPr>
              <a:defRPr lang="en-US" dirty="0" smtClean="0">
                <a:solidFill>
                  <a:schemeClr val="tx1">
                    <a:tint val="75000"/>
                  </a:schemeClr>
                </a:solidFill>
                <a:latin typeface="Corbel" pitchFamily="34" charset="0"/>
              </a:defRPr>
            </a:lvl4pPr>
            <a:lvl5pPr>
              <a:defRPr lang="en-US" dirty="0">
                <a:solidFill>
                  <a:schemeClr val="tx1">
                    <a:tint val="75000"/>
                  </a:schemeClr>
                </a:solidFill>
                <a:latin typeface="Corbel" pitchFamily="34" charset="0"/>
              </a:defRPr>
            </a:lvl5pPr>
          </a:lstStyle>
          <a:p>
            <a:pPr marL="0" lvl="0" indent="0"/>
            <a:r>
              <a:rPr lang="en-US" dirty="0"/>
              <a:t>Click to edit Master text styles</a:t>
            </a:r>
          </a:p>
        </p:txBody>
      </p:sp>
      <p:sp>
        <p:nvSpPr>
          <p:cNvPr id="8" name="Right Triangle 7"/>
          <p:cNvSpPr/>
          <p:nvPr userDrawn="1"/>
        </p:nvSpPr>
        <p:spPr>
          <a:xfrm rot="10800000">
            <a:off x="8445103" y="130348"/>
            <a:ext cx="548640" cy="548640"/>
          </a:xfrm>
          <a:prstGeom prst="rtTriangle">
            <a:avLst/>
          </a:prstGeom>
          <a:solidFill>
            <a:srgbClr val="DD31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rbel" panose="020B0503020204020204" pitchFamily="34" charset="0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" userDrawn="1">
          <p15:clr>
            <a:srgbClr val="FBAE40"/>
          </p15:clr>
        </p15:guide>
        <p15:guide id="2" pos="566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0" y="657741"/>
            <a:ext cx="9144000" cy="42388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Corbel" panose="020B0503020204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-1"/>
            <a:ext cx="8607224" cy="657741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dirty="0">
                <a:latin typeface="Corbel" panose="020B0503020204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19150"/>
            <a:ext cx="8610600" cy="3962400"/>
          </a:xfrm>
        </p:spPr>
        <p:txBody>
          <a:bodyPr>
            <a:normAutofit/>
          </a:bodyPr>
          <a:lstStyle>
            <a:lvl1pPr marL="342900" indent="-342900">
              <a:buFont typeface="Arial" pitchFamily="34" charset="0"/>
              <a:buChar char="•"/>
              <a:defRPr sz="2000">
                <a:latin typeface="Corbel" panose="020B0503020204020204" pitchFamily="34" charset="0"/>
              </a:defRPr>
            </a:lvl1pPr>
            <a:lvl2pPr marL="742950" indent="-285750">
              <a:buFont typeface="Arial" pitchFamily="34" charset="0"/>
              <a:buChar char="•"/>
              <a:defRPr sz="1800">
                <a:latin typeface="Corbel" panose="020B0503020204020204" pitchFamily="34" charset="0"/>
              </a:defRPr>
            </a:lvl2pPr>
            <a:lvl3pPr marL="1143000" indent="-228600">
              <a:buFont typeface="Arial" pitchFamily="34" charset="0"/>
              <a:buChar char="•"/>
              <a:defRPr sz="1600">
                <a:latin typeface="Corbel" panose="020B0503020204020204" pitchFamily="34" charset="0"/>
              </a:defRPr>
            </a:lvl3pPr>
            <a:lvl4pPr marL="1600200" indent="-228600">
              <a:buFont typeface="Arial" pitchFamily="34" charset="0"/>
              <a:buChar char="•"/>
              <a:defRPr sz="1400">
                <a:latin typeface="Corbel" panose="020B0503020204020204" pitchFamily="34" charset="0"/>
              </a:defRPr>
            </a:lvl4pPr>
            <a:lvl5pPr marL="2057400" indent="-228600">
              <a:buFont typeface="Arial" pitchFamily="34" charset="0"/>
              <a:buChar char="•"/>
              <a:defRPr sz="1400">
                <a:latin typeface="Corbel" panose="020B0503020204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4572000" y="5030446"/>
            <a:ext cx="1524000" cy="1500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700" dirty="0">
                <a:solidFill>
                  <a:schemeClr val="bg1"/>
                </a:solidFill>
                <a:latin typeface="Corbel" pitchFamily="34" charset="0"/>
              </a:rPr>
              <a:t>Confidential &amp; Restricted</a:t>
            </a:r>
          </a:p>
        </p:txBody>
      </p:sp>
      <p:pic>
        <p:nvPicPr>
          <p:cNvPr id="11" name="Picture 2" descr="D:\VJ GDrive\Work\Prodapt About\Prodapt Brand Guidelines\Prodapt_logo_white_without poweri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1778" y="4933950"/>
            <a:ext cx="767069" cy="256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77017" y="4980509"/>
            <a:ext cx="381000" cy="1436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/>
                </a:solidFill>
                <a:latin typeface="Corbel" panose="020B0503020204020204" pitchFamily="34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152400" y="4977334"/>
            <a:ext cx="1524000" cy="1500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700" dirty="0">
                <a:solidFill>
                  <a:schemeClr val="tx1"/>
                </a:solidFill>
                <a:latin typeface="Corbel" pitchFamily="34" charset="0"/>
              </a:rPr>
              <a:t>Confidential &amp; Restricted</a:t>
            </a:r>
          </a:p>
        </p:txBody>
      </p:sp>
      <p:pic>
        <p:nvPicPr>
          <p:cNvPr id="17" name="Picture 2" descr="C:\Users\RAGHAV~1.MG\AppData\Local\Temp\Rar$DRa0.974\prodapt-logo-trans.png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835"/>
          <a:stretch/>
        </p:blipFill>
        <p:spPr bwMode="auto">
          <a:xfrm>
            <a:off x="8305800" y="4949610"/>
            <a:ext cx="606224" cy="171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ight Triangle 11"/>
          <p:cNvSpPr/>
          <p:nvPr userDrawn="1"/>
        </p:nvSpPr>
        <p:spPr>
          <a:xfrm rot="10800000">
            <a:off x="8615970" y="133351"/>
            <a:ext cx="381600" cy="381600"/>
          </a:xfrm>
          <a:prstGeom prst="rtTriangle">
            <a:avLst/>
          </a:prstGeom>
          <a:solidFill>
            <a:srgbClr val="DD31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rbel" panose="020B0503020204020204" pitchFamily="34" charset="0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0" y="657741"/>
            <a:ext cx="9144000" cy="42388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Corbel" panose="020B0503020204020204" pitchFamily="34" charset="0"/>
            </a:endParaRPr>
          </a:p>
        </p:txBody>
      </p:sp>
      <p:pic>
        <p:nvPicPr>
          <p:cNvPr id="12" name="Picture 2" descr="D:\VJ GDrive\Work\Prodapt About\Prodapt Brand Guidelines\Prodapt_logo_white_without poweri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1778" y="4933950"/>
            <a:ext cx="767069" cy="256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77017" y="4980509"/>
            <a:ext cx="381000" cy="1436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/>
                </a:solidFill>
                <a:latin typeface="Corbel" panose="020B0503020204020204" pitchFamily="34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152400" y="4977334"/>
            <a:ext cx="1524000" cy="1500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700" dirty="0">
                <a:solidFill>
                  <a:schemeClr val="tx1"/>
                </a:solidFill>
                <a:latin typeface="Corbel" pitchFamily="34" charset="0"/>
              </a:rPr>
              <a:t>Confidential &amp; Restricted</a:t>
            </a:r>
          </a:p>
        </p:txBody>
      </p:sp>
      <p:pic>
        <p:nvPicPr>
          <p:cNvPr id="18" name="Picture 2" descr="C:\Users\RAGHAV~1.MG\AppData\Local\Temp\Rar$DRa0.974\prodapt-logo-trans.png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835"/>
          <a:stretch/>
        </p:blipFill>
        <p:spPr bwMode="auto">
          <a:xfrm>
            <a:off x="8305800" y="4949610"/>
            <a:ext cx="606224" cy="171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819150"/>
            <a:ext cx="4038600" cy="377547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000" dirty="0" smtClean="0">
                <a:latin typeface="Corbel" panose="020B0503020204020204" pitchFamily="34" charset="0"/>
              </a:defRPr>
            </a:lvl1pPr>
            <a:lvl2pPr>
              <a:defRPr lang="en-US" sz="1800" dirty="0" smtClean="0">
                <a:latin typeface="Corbel" panose="020B0503020204020204" pitchFamily="34" charset="0"/>
              </a:defRPr>
            </a:lvl2pPr>
            <a:lvl3pPr>
              <a:defRPr lang="en-US" sz="1600" dirty="0" smtClean="0">
                <a:latin typeface="Corbel" panose="020B0503020204020204" pitchFamily="34" charset="0"/>
              </a:defRPr>
            </a:lvl3pPr>
            <a:lvl4pPr>
              <a:defRPr lang="en-US" sz="1400" dirty="0" smtClean="0">
                <a:latin typeface="Corbel" panose="020B0503020204020204" pitchFamily="34" charset="0"/>
              </a:defRPr>
            </a:lvl4pPr>
            <a:lvl5pPr>
              <a:defRPr lang="en-US" sz="1400" dirty="0">
                <a:latin typeface="Corbel" panose="020B0503020204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>
              <a:buChar char="•"/>
            </a:pPr>
            <a:r>
              <a:rPr lang="en-US" dirty="0"/>
              <a:t>Second level</a:t>
            </a:r>
          </a:p>
          <a:p>
            <a:pPr marL="1200150" lvl="2" indent="-285750"/>
            <a:r>
              <a:rPr lang="en-US" dirty="0"/>
              <a:t>Third level</a:t>
            </a:r>
          </a:p>
          <a:p>
            <a:pPr marL="1657350" lvl="3" indent="-285750">
              <a:buChar char="•"/>
            </a:pPr>
            <a:r>
              <a:rPr lang="en-US" dirty="0"/>
              <a:t>Fourth level</a:t>
            </a:r>
          </a:p>
          <a:p>
            <a:pPr marL="2114550" lvl="4" indent="-285750">
              <a:buChar char="•"/>
            </a:pPr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819150"/>
            <a:ext cx="4038600" cy="377547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000" dirty="0" smtClean="0">
                <a:latin typeface="Corbel" panose="020B0503020204020204" pitchFamily="34" charset="0"/>
              </a:defRPr>
            </a:lvl1pPr>
            <a:lvl2pPr>
              <a:defRPr lang="en-US" sz="1800" dirty="0" smtClean="0">
                <a:latin typeface="Corbel" panose="020B0503020204020204" pitchFamily="34" charset="0"/>
              </a:defRPr>
            </a:lvl2pPr>
            <a:lvl3pPr>
              <a:defRPr lang="en-US" sz="1600" dirty="0" smtClean="0">
                <a:latin typeface="Corbel" panose="020B0503020204020204" pitchFamily="34" charset="0"/>
              </a:defRPr>
            </a:lvl3pPr>
            <a:lvl4pPr>
              <a:defRPr lang="en-US" sz="1400" dirty="0" smtClean="0">
                <a:latin typeface="Corbel" panose="020B0503020204020204" pitchFamily="34" charset="0"/>
              </a:defRPr>
            </a:lvl4pPr>
            <a:lvl5pPr>
              <a:defRPr lang="en-US" sz="1400" dirty="0">
                <a:latin typeface="Corbel" panose="020B0503020204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>
              <a:buChar char="•"/>
            </a:pPr>
            <a:r>
              <a:rPr lang="en-US" dirty="0"/>
              <a:t>Second level</a:t>
            </a:r>
          </a:p>
          <a:p>
            <a:pPr marL="1200150" lvl="2" indent="-285750"/>
            <a:r>
              <a:rPr lang="en-US" dirty="0"/>
              <a:t>Third level</a:t>
            </a:r>
          </a:p>
          <a:p>
            <a:pPr marL="1657350" lvl="3" indent="-285750">
              <a:buChar char="•"/>
            </a:pPr>
            <a:r>
              <a:rPr lang="en-US" dirty="0"/>
              <a:t>Fourth level</a:t>
            </a:r>
          </a:p>
          <a:p>
            <a:pPr marL="2114550" lvl="4" indent="-285750">
              <a:buChar char="•"/>
            </a:pPr>
            <a:r>
              <a:rPr lang="en-US" dirty="0"/>
              <a:t>Fifth level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304800" y="12921"/>
            <a:ext cx="8370512" cy="644820"/>
          </a:xfrm>
        </p:spPr>
        <p:txBody>
          <a:bodyPr anchor="ctr" anchorCtr="0"/>
          <a:lstStyle>
            <a:lvl1pPr>
              <a:defRPr sz="2000" b="0" i="0">
                <a:latin typeface="Corbel" panose="020B05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Right Triangle 10"/>
          <p:cNvSpPr/>
          <p:nvPr userDrawn="1"/>
        </p:nvSpPr>
        <p:spPr>
          <a:xfrm rot="10800000">
            <a:off x="8615970" y="133351"/>
            <a:ext cx="381600" cy="381600"/>
          </a:xfrm>
          <a:prstGeom prst="rtTriangle">
            <a:avLst/>
          </a:prstGeom>
          <a:solidFill>
            <a:srgbClr val="DD31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rbel" panose="020B0503020204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D:\VJ GDrive\Work\Prodapt About\Prodapt Brand Guidelines\Prodapt_logo_white_without poweri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1778" y="4933950"/>
            <a:ext cx="767069" cy="256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77017" y="4980509"/>
            <a:ext cx="381000" cy="1436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/>
                </a:solidFill>
                <a:latin typeface="Corbel" panose="020B0503020204020204" pitchFamily="34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152400" y="4977334"/>
            <a:ext cx="1524000" cy="1500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700" dirty="0">
                <a:solidFill>
                  <a:schemeClr val="tx1"/>
                </a:solidFill>
                <a:latin typeface="Corbel" pitchFamily="34" charset="0"/>
              </a:rPr>
              <a:t>Confidential &amp; Restricted</a:t>
            </a:r>
          </a:p>
        </p:txBody>
      </p:sp>
      <p:pic>
        <p:nvPicPr>
          <p:cNvPr id="12" name="Picture 2" descr="C:\Users\RAGHAV~1.MG\AppData\Local\Temp\Rar$DRa0.974\prodapt-logo-trans.png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835"/>
          <a:stretch/>
        </p:blipFill>
        <p:spPr bwMode="auto">
          <a:xfrm>
            <a:off x="8305800" y="4949610"/>
            <a:ext cx="606224" cy="171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610600" cy="657741"/>
          </a:xfrm>
        </p:spPr>
        <p:txBody>
          <a:bodyPr/>
          <a:lstStyle>
            <a:lvl1pPr>
              <a:defRPr sz="2000" b="0" i="0">
                <a:latin typeface="Corbel" panose="020B05030202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0" y="657741"/>
            <a:ext cx="9144000" cy="42388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Corbel" panose="020B0503020204020204" pitchFamily="34" charset="0"/>
            </a:endParaRPr>
          </a:p>
        </p:txBody>
      </p:sp>
      <p:sp>
        <p:nvSpPr>
          <p:cNvPr id="14" name="Right Triangle 13"/>
          <p:cNvSpPr/>
          <p:nvPr userDrawn="1"/>
        </p:nvSpPr>
        <p:spPr>
          <a:xfrm rot="10800000">
            <a:off x="8615970" y="133351"/>
            <a:ext cx="381600" cy="381600"/>
          </a:xfrm>
          <a:prstGeom prst="rtTriangle">
            <a:avLst/>
          </a:prstGeom>
          <a:solidFill>
            <a:srgbClr val="DD31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rbel" panose="020B0503020204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3562350"/>
            <a:ext cx="9144000" cy="6921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Corbel" panose="020B0503020204020204" pitchFamily="34" charset="0"/>
            </a:endParaRPr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3929902" y="3647096"/>
            <a:ext cx="0" cy="51525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3" descr="D:\VJ GDrive\Work\Prodapt About\Prodapt Brand Guidelines\prodapt_logo_red_with poweri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3721144"/>
            <a:ext cx="1828800" cy="393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2"/>
          <p:cNvSpPr>
            <a:spLocks noGrp="1"/>
          </p:cNvSpPr>
          <p:nvPr>
            <p:ph type="title"/>
          </p:nvPr>
        </p:nvSpPr>
        <p:spPr>
          <a:xfrm>
            <a:off x="4191000" y="3670521"/>
            <a:ext cx="4547913" cy="457199"/>
          </a:xfrm>
        </p:spPr>
        <p:txBody>
          <a:bodyPr/>
          <a:lstStyle>
            <a:lvl1pPr algn="l">
              <a:defRPr lang="en-US" sz="1800" b="1" i="0" kern="1200" dirty="0">
                <a:solidFill>
                  <a:srgbClr val="29397D"/>
                </a:solidFill>
                <a:latin typeface="Corbel" panose="020B0503020204020204" pitchFamily="34" charset="0"/>
                <a:ea typeface="+mj-ea"/>
                <a:cs typeface="Corbel" panose="020B05030202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Right Triangle 8"/>
          <p:cNvSpPr/>
          <p:nvPr userDrawn="1"/>
        </p:nvSpPr>
        <p:spPr>
          <a:xfrm rot="10800000">
            <a:off x="8445103" y="130348"/>
            <a:ext cx="548640" cy="548640"/>
          </a:xfrm>
          <a:prstGeom prst="rtTriangle">
            <a:avLst/>
          </a:prstGeom>
          <a:solidFill>
            <a:srgbClr val="DD31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rbel" panose="020B0503020204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402" y="-365"/>
            <a:ext cx="6604488" cy="3344014"/>
          </a:xfrm>
          <a:prstGeom prst="rect">
            <a:avLst/>
          </a:prstGeom>
        </p:spPr>
      </p:pic>
      <p:pic>
        <p:nvPicPr>
          <p:cNvPr id="53" name="Picture 5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2328" y="1699125"/>
            <a:ext cx="722272" cy="133272"/>
          </a:xfrm>
          <a:prstGeom prst="rect">
            <a:avLst/>
          </a:prstGeom>
          <a:effectLst>
            <a:outerShdw blurRad="50800" dir="2700000" sx="86000" sy="86000" kx="-800400" algn="bl" rotWithShape="0">
              <a:prstClr val="black">
                <a:alpha val="99000"/>
              </a:prstClr>
            </a:outerShdw>
          </a:effectLst>
        </p:spPr>
      </p:pic>
      <p:sp>
        <p:nvSpPr>
          <p:cNvPr id="56" name="Rectangle 55"/>
          <p:cNvSpPr/>
          <p:nvPr userDrawn="1"/>
        </p:nvSpPr>
        <p:spPr>
          <a:xfrm>
            <a:off x="5643428" y="1657718"/>
            <a:ext cx="53412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800" dirty="0">
                <a:latin typeface="Corbel" panose="020B0503020204020204" pitchFamily="34" charset="0"/>
              </a:rPr>
              <a:t>Chennai</a:t>
            </a:r>
          </a:p>
        </p:txBody>
      </p:sp>
      <p:pic>
        <p:nvPicPr>
          <p:cNvPr id="58" name="Picture 5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360" y="2501319"/>
            <a:ext cx="722272" cy="133272"/>
          </a:xfrm>
          <a:prstGeom prst="rect">
            <a:avLst/>
          </a:prstGeom>
          <a:effectLst>
            <a:outerShdw blurRad="50800" dir="2700000" sx="86000" sy="86000" kx="-800400" algn="bl" rotWithShape="0">
              <a:prstClr val="black">
                <a:alpha val="99000"/>
              </a:prstClr>
            </a:outerShdw>
          </a:effectLst>
        </p:spPr>
      </p:pic>
      <p:sp>
        <p:nvSpPr>
          <p:cNvPr id="59" name="Rectangle 58"/>
          <p:cNvSpPr/>
          <p:nvPr userDrawn="1"/>
        </p:nvSpPr>
        <p:spPr>
          <a:xfrm>
            <a:off x="4617324" y="2453959"/>
            <a:ext cx="77938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800" dirty="0">
                <a:latin typeface="Corbel" panose="020B0503020204020204" pitchFamily="34" charset="0"/>
              </a:rPr>
              <a:t>Johannesburg</a:t>
            </a:r>
          </a:p>
        </p:txBody>
      </p:sp>
      <p:pic>
        <p:nvPicPr>
          <p:cNvPr id="60" name="Picture 5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1200150"/>
            <a:ext cx="663631" cy="122452"/>
          </a:xfrm>
          <a:prstGeom prst="rect">
            <a:avLst/>
          </a:prstGeom>
          <a:effectLst>
            <a:outerShdw blurRad="50800" dir="2700000" sx="86000" sy="86000" kx="-800400" algn="bl" rotWithShape="0">
              <a:prstClr val="black">
                <a:alpha val="99000"/>
              </a:prstClr>
            </a:outerShdw>
          </a:effectLst>
        </p:spPr>
      </p:pic>
      <p:sp>
        <p:nvSpPr>
          <p:cNvPr id="61" name="Rectangle 60"/>
          <p:cNvSpPr/>
          <p:nvPr userDrawn="1"/>
        </p:nvSpPr>
        <p:spPr>
          <a:xfrm>
            <a:off x="2905367" y="1153654"/>
            <a:ext cx="60144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nl-NL" sz="800" dirty="0">
                <a:latin typeface="Corbel" panose="020B0503020204020204" pitchFamily="34" charset="0"/>
              </a:rPr>
              <a:t>New York</a:t>
            </a:r>
            <a:endParaRPr lang="en-IN" sz="800" dirty="0">
              <a:latin typeface="Corbel" panose="020B0503020204020204" pitchFamily="34" charset="0"/>
            </a:endParaRPr>
          </a:p>
        </p:txBody>
      </p:sp>
      <p:pic>
        <p:nvPicPr>
          <p:cNvPr id="62" name="Picture 6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9138" y="1471977"/>
            <a:ext cx="663631" cy="122452"/>
          </a:xfrm>
          <a:prstGeom prst="rect">
            <a:avLst/>
          </a:prstGeom>
          <a:effectLst>
            <a:outerShdw blurRad="50800" dir="2700000" sx="86000" sy="86000" kx="-800400" algn="bl" rotWithShape="0">
              <a:prstClr val="black">
                <a:alpha val="99000"/>
              </a:prstClr>
            </a:outerShdw>
          </a:effectLst>
        </p:spPr>
      </p:pic>
      <p:sp>
        <p:nvSpPr>
          <p:cNvPr id="63" name="Rectangle 62"/>
          <p:cNvSpPr/>
          <p:nvPr userDrawn="1"/>
        </p:nvSpPr>
        <p:spPr>
          <a:xfrm>
            <a:off x="2617659" y="1425481"/>
            <a:ext cx="44275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nl-NL" sz="800" dirty="0">
                <a:latin typeface="Corbel" panose="020B0503020204020204" pitchFamily="34" charset="0"/>
              </a:rPr>
              <a:t>Dallas</a:t>
            </a:r>
            <a:endParaRPr lang="en-IN" sz="800" dirty="0">
              <a:latin typeface="Corbel" panose="020B0503020204020204" pitchFamily="34" charset="0"/>
            </a:endParaRPr>
          </a:p>
        </p:txBody>
      </p:sp>
      <p:pic>
        <p:nvPicPr>
          <p:cNvPr id="64" name="Picture 63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0229" y="1349005"/>
            <a:ext cx="663631" cy="122452"/>
          </a:xfrm>
          <a:prstGeom prst="rect">
            <a:avLst/>
          </a:prstGeom>
          <a:effectLst>
            <a:outerShdw blurRad="50800" dir="2700000" sx="86000" sy="86000" kx="-800400" algn="bl" rotWithShape="0">
              <a:prstClr val="black">
                <a:alpha val="99000"/>
              </a:prstClr>
            </a:outerShdw>
          </a:effectLst>
        </p:spPr>
      </p:pic>
      <p:sp>
        <p:nvSpPr>
          <p:cNvPr id="65" name="Rectangle 64"/>
          <p:cNvSpPr/>
          <p:nvPr userDrawn="1"/>
        </p:nvSpPr>
        <p:spPr>
          <a:xfrm>
            <a:off x="1562100" y="1297619"/>
            <a:ext cx="53251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nl-NL" sz="800" dirty="0">
                <a:latin typeface="Corbel" panose="020B0503020204020204" pitchFamily="34" charset="0"/>
              </a:rPr>
              <a:t>Tualatin</a:t>
            </a:r>
            <a:endParaRPr lang="en-IN" sz="800" dirty="0">
              <a:latin typeface="Corbel" panose="020B0503020204020204" pitchFamily="34" charset="0"/>
            </a:endParaRPr>
          </a:p>
        </p:txBody>
      </p:sp>
      <p:pic>
        <p:nvPicPr>
          <p:cNvPr id="66" name="Picture 65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932" y="427697"/>
            <a:ext cx="716353" cy="122452"/>
          </a:xfrm>
          <a:prstGeom prst="rect">
            <a:avLst/>
          </a:prstGeom>
          <a:effectLst>
            <a:outerShdw blurRad="50800" dir="2700000" sx="86000" sy="86000" kx="-800400" algn="bl" rotWithShape="0">
              <a:prstClr val="black">
                <a:alpha val="99000"/>
              </a:prstClr>
            </a:outerShdw>
          </a:effectLst>
        </p:spPr>
      </p:pic>
      <p:sp>
        <p:nvSpPr>
          <p:cNvPr id="67" name="Rectangle 66"/>
          <p:cNvSpPr/>
          <p:nvPr userDrawn="1"/>
        </p:nvSpPr>
        <p:spPr>
          <a:xfrm>
            <a:off x="4254586" y="374353"/>
            <a:ext cx="686406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nl-NL" sz="800" dirty="0">
                <a:latin typeface="Corbel" panose="020B0503020204020204" pitchFamily="34" charset="0"/>
              </a:rPr>
              <a:t>Amsterdam</a:t>
            </a:r>
            <a:endParaRPr lang="en-IN" sz="800" dirty="0">
              <a:latin typeface="Corbel" panose="020B0503020204020204" pitchFamily="34" charset="0"/>
            </a:endParaRPr>
          </a:p>
        </p:txBody>
      </p:sp>
      <p:pic>
        <p:nvPicPr>
          <p:cNvPr id="72" name="Picture 2" descr="D:\work\Laptop\office purpose\prodapt_Logos\prodapt_logo.png"/>
          <p:cNvPicPr>
            <a:picLocks noChangeAspect="1" noChangeArrowheads="1"/>
          </p:cNvPicPr>
          <p:nvPr userDrawn="1"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158251" y="1594102"/>
            <a:ext cx="1614410" cy="444248"/>
          </a:xfrm>
          <a:prstGeom prst="rect">
            <a:avLst/>
          </a:prstGeom>
          <a:noFill/>
        </p:spPr>
      </p:pic>
      <p:pic>
        <p:nvPicPr>
          <p:cNvPr id="73" name="Picture 7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4986" y="812219"/>
            <a:ext cx="663631" cy="122452"/>
          </a:xfrm>
          <a:prstGeom prst="rect">
            <a:avLst/>
          </a:prstGeom>
          <a:effectLst>
            <a:outerShdw blurRad="50800" dir="2700000" sx="86000" sy="86000" kx="-800400" algn="bl" rotWithShape="0">
              <a:prstClr val="black">
                <a:alpha val="99000"/>
              </a:prstClr>
            </a:outerShdw>
          </a:effectLst>
        </p:spPr>
      </p:pic>
      <p:sp>
        <p:nvSpPr>
          <p:cNvPr id="74" name="Rectangle 73"/>
          <p:cNvSpPr/>
          <p:nvPr userDrawn="1"/>
        </p:nvSpPr>
        <p:spPr>
          <a:xfrm>
            <a:off x="3700067" y="765723"/>
            <a:ext cx="510076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nl-NL" sz="800" dirty="0">
                <a:latin typeface="Corbel" panose="020B0503020204020204" pitchFamily="34" charset="0"/>
              </a:rPr>
              <a:t>London</a:t>
            </a:r>
            <a:endParaRPr lang="en-IN" sz="800" dirty="0">
              <a:latin typeface="Corbel" panose="020B0503020204020204" pitchFamily="34" charset="0"/>
            </a:endParaRPr>
          </a:p>
        </p:txBody>
      </p:sp>
      <p:sp>
        <p:nvSpPr>
          <p:cNvPr id="75" name="Rectangle 74"/>
          <p:cNvSpPr/>
          <p:nvPr userDrawn="1"/>
        </p:nvSpPr>
        <p:spPr>
          <a:xfrm>
            <a:off x="7162800" y="1197173"/>
            <a:ext cx="121135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  <a:latin typeface="Corbel" pitchFamily="34" charset="0"/>
              </a:rPr>
              <a:t>THANK</a:t>
            </a:r>
            <a:r>
              <a:rPr lang="en-IN" sz="1400" b="1" baseline="0" dirty="0">
                <a:solidFill>
                  <a:schemeClr val="bg1"/>
                </a:solidFill>
                <a:latin typeface="Corbel" pitchFamily="34" charset="0"/>
              </a:rPr>
              <a:t> YOU!</a:t>
            </a:r>
            <a:endParaRPr lang="en-IN" sz="1400" b="1" dirty="0">
              <a:solidFill>
                <a:schemeClr val="bg1"/>
              </a:solidFill>
              <a:latin typeface="Corbel" pitchFamily="34" charset="0"/>
            </a:endParaRPr>
          </a:p>
        </p:txBody>
      </p:sp>
      <p:sp>
        <p:nvSpPr>
          <p:cNvPr id="34" name="Rectangle 33"/>
          <p:cNvSpPr/>
          <p:nvPr userDrawn="1"/>
        </p:nvSpPr>
        <p:spPr>
          <a:xfrm>
            <a:off x="7442204" y="3704333"/>
            <a:ext cx="1676400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900" b="1" dirty="0">
                <a:solidFill>
                  <a:schemeClr val="bg1"/>
                </a:solidFill>
                <a:latin typeface="Corbel" pitchFamily="34" charset="0"/>
              </a:rPr>
              <a:t>Prodapt Solutions Pvt. Ltd. </a:t>
            </a:r>
            <a:r>
              <a:rPr lang="fr-FR" sz="800" b="1" dirty="0">
                <a:solidFill>
                  <a:schemeClr val="bg1"/>
                </a:solidFill>
                <a:latin typeface="Corbel" pitchFamily="34" charset="0"/>
              </a:rPr>
              <a:t>Chennai: </a:t>
            </a:r>
            <a:endParaRPr lang="en-IN" sz="800" b="1" dirty="0">
              <a:solidFill>
                <a:schemeClr val="bg1"/>
              </a:solidFill>
              <a:latin typeface="Corbel" pitchFamily="34" charset="0"/>
            </a:endParaRPr>
          </a:p>
        </p:txBody>
      </p:sp>
      <p:sp>
        <p:nvSpPr>
          <p:cNvPr id="35" name="Rectangle 34"/>
          <p:cNvSpPr/>
          <p:nvPr userDrawn="1"/>
        </p:nvSpPr>
        <p:spPr>
          <a:xfrm>
            <a:off x="7442204" y="3456603"/>
            <a:ext cx="5870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200" b="1" dirty="0">
                <a:solidFill>
                  <a:schemeClr val="bg1"/>
                </a:solidFill>
                <a:latin typeface="Corbel" pitchFamily="34" charset="0"/>
              </a:rPr>
              <a:t>INDIA</a:t>
            </a:r>
            <a:endParaRPr lang="en-IN" sz="1200" b="1" dirty="0">
              <a:latin typeface="Corbel" pitchFamily="34" charset="0"/>
            </a:endParaRPr>
          </a:p>
        </p:txBody>
      </p:sp>
      <p:sp>
        <p:nvSpPr>
          <p:cNvPr id="36" name="Rectangle 35"/>
          <p:cNvSpPr/>
          <p:nvPr userDrawn="1"/>
        </p:nvSpPr>
        <p:spPr>
          <a:xfrm>
            <a:off x="7442204" y="4008989"/>
            <a:ext cx="135010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800" dirty="0">
                <a:solidFill>
                  <a:schemeClr val="bg1"/>
                </a:solidFill>
                <a:latin typeface="Corbel" pitchFamily="34" charset="0"/>
              </a:rPr>
              <a:t>1. Prince Infocity II, OMR</a:t>
            </a:r>
            <a:br>
              <a:rPr lang="en-IN" sz="800" dirty="0">
                <a:solidFill>
                  <a:schemeClr val="bg1"/>
                </a:solidFill>
                <a:latin typeface="Corbel" pitchFamily="34" charset="0"/>
              </a:rPr>
            </a:br>
            <a:r>
              <a:rPr lang="en-IN" sz="800" dirty="0">
                <a:solidFill>
                  <a:schemeClr val="bg1"/>
                </a:solidFill>
                <a:latin typeface="Corbel" pitchFamily="34" charset="0"/>
              </a:rPr>
              <a:t>Ph: +91 44 4903 3000</a:t>
            </a:r>
            <a:br>
              <a:rPr lang="en-IN" sz="800" dirty="0">
                <a:solidFill>
                  <a:schemeClr val="bg1"/>
                </a:solidFill>
                <a:latin typeface="Corbel" pitchFamily="34" charset="0"/>
              </a:rPr>
            </a:br>
            <a:r>
              <a:rPr lang="en-IN" sz="800" dirty="0">
                <a:solidFill>
                  <a:schemeClr val="bg1"/>
                </a:solidFill>
                <a:latin typeface="Corbel" pitchFamily="34" charset="0"/>
              </a:rPr>
              <a:t>Fax: +91 44 4903 3010</a:t>
            </a:r>
          </a:p>
        </p:txBody>
      </p:sp>
      <p:sp>
        <p:nvSpPr>
          <p:cNvPr id="39" name="Rectangle 38"/>
          <p:cNvSpPr/>
          <p:nvPr userDrawn="1"/>
        </p:nvSpPr>
        <p:spPr>
          <a:xfrm>
            <a:off x="7442204" y="4484127"/>
            <a:ext cx="1676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800" dirty="0">
                <a:solidFill>
                  <a:schemeClr val="bg1"/>
                </a:solidFill>
                <a:latin typeface="Corbel" pitchFamily="34" charset="0"/>
              </a:rPr>
              <a:t>2. “Chennai One” SEZ, </a:t>
            </a:r>
            <a:br>
              <a:rPr lang="en-IN" sz="800" dirty="0">
                <a:solidFill>
                  <a:schemeClr val="bg1"/>
                </a:solidFill>
                <a:latin typeface="Corbel" pitchFamily="34" charset="0"/>
              </a:rPr>
            </a:br>
            <a:r>
              <a:rPr lang="en-IN" sz="800" dirty="0">
                <a:solidFill>
                  <a:schemeClr val="bg1"/>
                </a:solidFill>
                <a:latin typeface="Corbel" pitchFamily="34" charset="0"/>
              </a:rPr>
              <a:t>Thoraipakkam</a:t>
            </a:r>
            <a:br>
              <a:rPr lang="en-IN" sz="800" dirty="0">
                <a:solidFill>
                  <a:schemeClr val="bg1"/>
                </a:solidFill>
                <a:latin typeface="Corbel" pitchFamily="34" charset="0"/>
              </a:rPr>
            </a:br>
            <a:r>
              <a:rPr lang="en-IN" sz="800" dirty="0">
                <a:solidFill>
                  <a:schemeClr val="bg1"/>
                </a:solidFill>
                <a:latin typeface="Corbel" pitchFamily="34" charset="0"/>
              </a:rPr>
              <a:t>Ph: +91 44 4230 2300</a:t>
            </a:r>
            <a:br>
              <a:rPr lang="en-IN" sz="800" dirty="0">
                <a:solidFill>
                  <a:schemeClr val="bg1"/>
                </a:solidFill>
                <a:latin typeface="Corbel" pitchFamily="34" charset="0"/>
              </a:rPr>
            </a:br>
            <a:r>
              <a:rPr lang="en-IN" sz="800" dirty="0">
                <a:solidFill>
                  <a:schemeClr val="bg1"/>
                </a:solidFill>
                <a:latin typeface="Corbel" pitchFamily="34" charset="0"/>
              </a:rPr>
              <a:t>Fax: +91 44 4903 3010</a:t>
            </a:r>
          </a:p>
        </p:txBody>
      </p:sp>
      <p:sp>
        <p:nvSpPr>
          <p:cNvPr id="41" name="Rectangle 40"/>
          <p:cNvSpPr/>
          <p:nvPr userDrawn="1"/>
        </p:nvSpPr>
        <p:spPr>
          <a:xfrm>
            <a:off x="5924550" y="3458718"/>
            <a:ext cx="122469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b="1" dirty="0">
                <a:solidFill>
                  <a:schemeClr val="bg1"/>
                </a:solidFill>
                <a:latin typeface="Corbel" pitchFamily="34" charset="0"/>
              </a:rPr>
              <a:t>SOUTH AFRICA</a:t>
            </a:r>
          </a:p>
        </p:txBody>
      </p:sp>
      <p:sp>
        <p:nvSpPr>
          <p:cNvPr id="42" name="Rectangle 41"/>
          <p:cNvSpPr/>
          <p:nvPr userDrawn="1"/>
        </p:nvSpPr>
        <p:spPr>
          <a:xfrm>
            <a:off x="87372" y="3456801"/>
            <a:ext cx="48122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b="1" dirty="0">
                <a:solidFill>
                  <a:schemeClr val="bg1"/>
                </a:solidFill>
                <a:latin typeface="Corbel" pitchFamily="34" charset="0"/>
              </a:rPr>
              <a:t>USA</a:t>
            </a:r>
          </a:p>
        </p:txBody>
      </p:sp>
      <p:sp>
        <p:nvSpPr>
          <p:cNvPr id="43" name="Rectangle 42"/>
          <p:cNvSpPr/>
          <p:nvPr userDrawn="1"/>
        </p:nvSpPr>
        <p:spPr>
          <a:xfrm>
            <a:off x="68322" y="3704531"/>
            <a:ext cx="236220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900" b="1" dirty="0">
                <a:solidFill>
                  <a:schemeClr val="bg1"/>
                </a:solidFill>
                <a:latin typeface="Corbel" pitchFamily="34" charset="0"/>
              </a:rPr>
              <a:t>Prodapt North America</a:t>
            </a:r>
          </a:p>
          <a:p>
            <a:r>
              <a:rPr lang="en-IN" sz="800" b="1" dirty="0">
                <a:solidFill>
                  <a:schemeClr val="bg1"/>
                </a:solidFill>
                <a:latin typeface="Corbel" pitchFamily="34" charset="0"/>
              </a:rPr>
              <a:t>Tualatin</a:t>
            </a:r>
            <a:r>
              <a:rPr lang="en-IN" sz="800" dirty="0">
                <a:solidFill>
                  <a:schemeClr val="bg1"/>
                </a:solidFill>
                <a:latin typeface="Corbel" pitchFamily="34" charset="0"/>
              </a:rPr>
              <a:t>: 7565 SW Mohawk St.,</a:t>
            </a:r>
            <a:br>
              <a:rPr lang="en-IN" sz="800" dirty="0">
                <a:solidFill>
                  <a:schemeClr val="bg1"/>
                </a:solidFill>
                <a:latin typeface="Corbel" pitchFamily="34" charset="0"/>
              </a:rPr>
            </a:br>
            <a:r>
              <a:rPr lang="en-IN" sz="800" dirty="0">
                <a:solidFill>
                  <a:schemeClr val="bg1"/>
                </a:solidFill>
                <a:latin typeface="Corbel" pitchFamily="34" charset="0"/>
              </a:rPr>
              <a:t>Ph: +1 503 636 3737</a:t>
            </a:r>
            <a:br>
              <a:rPr lang="en-IN" sz="800" dirty="0">
                <a:solidFill>
                  <a:schemeClr val="bg1"/>
                </a:solidFill>
                <a:latin typeface="Corbel" pitchFamily="34" charset="0"/>
              </a:rPr>
            </a:br>
            <a:r>
              <a:rPr lang="en-IN" sz="800" dirty="0">
                <a:solidFill>
                  <a:schemeClr val="bg1"/>
                </a:solidFill>
                <a:latin typeface="Corbel" pitchFamily="34" charset="0"/>
              </a:rPr>
              <a:t>Fax: +1 503 885 0850</a:t>
            </a:r>
          </a:p>
        </p:txBody>
      </p:sp>
      <p:sp>
        <p:nvSpPr>
          <p:cNvPr id="44" name="Rectangle 43"/>
          <p:cNvSpPr/>
          <p:nvPr userDrawn="1"/>
        </p:nvSpPr>
        <p:spPr>
          <a:xfrm>
            <a:off x="68322" y="4302100"/>
            <a:ext cx="18366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800" b="1" dirty="0">
                <a:solidFill>
                  <a:schemeClr val="bg1"/>
                </a:solidFill>
                <a:latin typeface="Corbel" pitchFamily="34" charset="0"/>
              </a:rPr>
              <a:t>Dallas</a:t>
            </a:r>
            <a:r>
              <a:rPr lang="en-IN" sz="800" dirty="0">
                <a:solidFill>
                  <a:schemeClr val="bg1"/>
                </a:solidFill>
                <a:latin typeface="Corbel" pitchFamily="34" charset="0"/>
              </a:rPr>
              <a:t>: 222 W. Las Colinas Blvd., Irving </a:t>
            </a:r>
            <a:br>
              <a:rPr lang="en-IN" sz="800" dirty="0">
                <a:solidFill>
                  <a:schemeClr val="bg1"/>
                </a:solidFill>
                <a:latin typeface="Corbel" pitchFamily="34" charset="0"/>
              </a:rPr>
            </a:br>
            <a:r>
              <a:rPr lang="en-IN" sz="800" dirty="0">
                <a:solidFill>
                  <a:schemeClr val="bg1"/>
                </a:solidFill>
                <a:latin typeface="Corbel" pitchFamily="34" charset="0"/>
              </a:rPr>
              <a:t>Ph: +1 972 201 9009</a:t>
            </a:r>
            <a:br>
              <a:rPr lang="en-IN" sz="800" dirty="0">
                <a:solidFill>
                  <a:schemeClr val="bg1"/>
                </a:solidFill>
                <a:latin typeface="Corbel" pitchFamily="34" charset="0"/>
              </a:rPr>
            </a:br>
            <a:r>
              <a:rPr lang="en-IN" sz="800" dirty="0">
                <a:solidFill>
                  <a:schemeClr val="bg1"/>
                </a:solidFill>
                <a:latin typeface="Corbel" pitchFamily="34" charset="0"/>
              </a:rPr>
              <a:t>Fax: +1 972 501 9019</a:t>
            </a:r>
          </a:p>
        </p:txBody>
      </p:sp>
      <p:sp>
        <p:nvSpPr>
          <p:cNvPr id="45" name="Rectangle 44"/>
          <p:cNvSpPr/>
          <p:nvPr userDrawn="1"/>
        </p:nvSpPr>
        <p:spPr>
          <a:xfrm>
            <a:off x="68322" y="4768734"/>
            <a:ext cx="191110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800" b="1" dirty="0">
                <a:solidFill>
                  <a:schemeClr val="bg1"/>
                </a:solidFill>
                <a:latin typeface="Corbel" pitchFamily="34" charset="0"/>
              </a:rPr>
              <a:t>New York</a:t>
            </a:r>
            <a:r>
              <a:rPr lang="en-IN" sz="800" dirty="0">
                <a:solidFill>
                  <a:schemeClr val="bg1"/>
                </a:solidFill>
                <a:latin typeface="Corbel" pitchFamily="34" charset="0"/>
              </a:rPr>
              <a:t>: 1 Bridge Street, Irvington</a:t>
            </a:r>
          </a:p>
          <a:p>
            <a:r>
              <a:rPr lang="en-IN" sz="800" dirty="0">
                <a:solidFill>
                  <a:schemeClr val="bg1"/>
                </a:solidFill>
                <a:latin typeface="Corbel" pitchFamily="34" charset="0"/>
              </a:rPr>
              <a:t>Ph: +1</a:t>
            </a:r>
            <a:r>
              <a:rPr lang="en-IN" sz="800" baseline="0" dirty="0">
                <a:solidFill>
                  <a:schemeClr val="bg1"/>
                </a:solidFill>
                <a:latin typeface="Corbel" pitchFamily="34" charset="0"/>
              </a:rPr>
              <a:t> </a:t>
            </a:r>
            <a:r>
              <a:rPr lang="en-IN" sz="800" dirty="0">
                <a:solidFill>
                  <a:schemeClr val="bg1"/>
                </a:solidFill>
                <a:latin typeface="Corbel" pitchFamily="34" charset="0"/>
              </a:rPr>
              <a:t>646 403 8158</a:t>
            </a:r>
          </a:p>
        </p:txBody>
      </p:sp>
      <p:sp>
        <p:nvSpPr>
          <p:cNvPr id="46" name="Rectangle 45"/>
          <p:cNvSpPr/>
          <p:nvPr userDrawn="1"/>
        </p:nvSpPr>
        <p:spPr>
          <a:xfrm>
            <a:off x="5939233" y="3706448"/>
            <a:ext cx="1261667" cy="723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900" b="1" dirty="0">
                <a:solidFill>
                  <a:schemeClr val="bg1"/>
                </a:solidFill>
                <a:latin typeface="Corbel" pitchFamily="34" charset="0"/>
              </a:rPr>
              <a:t>Prodapt SA (Pty) Ltd.</a:t>
            </a:r>
          </a:p>
          <a:p>
            <a:r>
              <a:rPr lang="en-IN" sz="800" b="1" dirty="0">
                <a:solidFill>
                  <a:schemeClr val="bg1"/>
                </a:solidFill>
                <a:latin typeface="Corbel" pitchFamily="34" charset="0"/>
              </a:rPr>
              <a:t>Johannesburg</a:t>
            </a:r>
            <a:r>
              <a:rPr lang="en-IN" sz="800" dirty="0">
                <a:solidFill>
                  <a:schemeClr val="bg1"/>
                </a:solidFill>
                <a:latin typeface="Corbel" pitchFamily="34" charset="0"/>
              </a:rPr>
              <a:t>: No. 3, </a:t>
            </a:r>
          </a:p>
          <a:p>
            <a:r>
              <a:rPr lang="en-IN" sz="800" dirty="0">
                <a:solidFill>
                  <a:schemeClr val="bg1"/>
                </a:solidFill>
                <a:latin typeface="Corbel" pitchFamily="34" charset="0"/>
              </a:rPr>
              <a:t>3rd Avenue, Rivonia</a:t>
            </a:r>
            <a:br>
              <a:rPr lang="en-IN" sz="800" dirty="0">
                <a:solidFill>
                  <a:schemeClr val="bg1"/>
                </a:solidFill>
                <a:latin typeface="Corbel" pitchFamily="34" charset="0"/>
              </a:rPr>
            </a:br>
            <a:r>
              <a:rPr lang="en-IN" sz="800" dirty="0">
                <a:solidFill>
                  <a:schemeClr val="bg1"/>
                </a:solidFill>
                <a:latin typeface="Corbel" pitchFamily="34" charset="0"/>
              </a:rPr>
              <a:t>Ph: +27 (0) 11 259 4000</a:t>
            </a:r>
            <a:br>
              <a:rPr lang="en-IN" sz="800" dirty="0">
                <a:solidFill>
                  <a:schemeClr val="bg1"/>
                </a:solidFill>
                <a:latin typeface="Corbel" pitchFamily="34" charset="0"/>
              </a:rPr>
            </a:br>
            <a:r>
              <a:rPr lang="en-IN" sz="800" dirty="0">
                <a:solidFill>
                  <a:schemeClr val="bg1"/>
                </a:solidFill>
                <a:latin typeface="Corbel" pitchFamily="34" charset="0"/>
              </a:rPr>
              <a:t>Fax: +27 (0) 11 259 4111</a:t>
            </a:r>
          </a:p>
        </p:txBody>
      </p:sp>
      <p:sp>
        <p:nvSpPr>
          <p:cNvPr id="47" name="Rectangle 46"/>
          <p:cNvSpPr/>
          <p:nvPr userDrawn="1"/>
        </p:nvSpPr>
        <p:spPr>
          <a:xfrm>
            <a:off x="3805372" y="3456801"/>
            <a:ext cx="157126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b="1" dirty="0">
                <a:solidFill>
                  <a:schemeClr val="bg1"/>
                </a:solidFill>
                <a:latin typeface="Corbel" pitchFamily="34" charset="0"/>
              </a:rPr>
              <a:t>THE NETHERLANDS</a:t>
            </a:r>
          </a:p>
        </p:txBody>
      </p:sp>
      <p:sp>
        <p:nvSpPr>
          <p:cNvPr id="48" name="Rectangle 47"/>
          <p:cNvSpPr/>
          <p:nvPr userDrawn="1"/>
        </p:nvSpPr>
        <p:spPr>
          <a:xfrm>
            <a:off x="3805372" y="3704531"/>
            <a:ext cx="1985828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l-NL" sz="900" b="1" dirty="0">
                <a:solidFill>
                  <a:schemeClr val="bg1"/>
                </a:solidFill>
                <a:latin typeface="Corbel" pitchFamily="34" charset="0"/>
              </a:rPr>
              <a:t>Prodapt Solutions Europe</a:t>
            </a:r>
          </a:p>
          <a:p>
            <a:r>
              <a:rPr lang="nl-NL" sz="800" b="1" dirty="0">
                <a:solidFill>
                  <a:schemeClr val="bg1"/>
                </a:solidFill>
                <a:latin typeface="Corbel" pitchFamily="34" charset="0"/>
              </a:rPr>
              <a:t>Amsterdam</a:t>
            </a:r>
            <a:r>
              <a:rPr lang="nl-NL" sz="800" dirty="0">
                <a:solidFill>
                  <a:schemeClr val="bg1"/>
                </a:solidFill>
                <a:latin typeface="Corbel" pitchFamily="34" charset="0"/>
              </a:rPr>
              <a:t>: Zekeringstraat 17A, 1014 BM</a:t>
            </a:r>
            <a:br>
              <a:rPr lang="nl-NL" sz="800" dirty="0">
                <a:solidFill>
                  <a:schemeClr val="bg1"/>
                </a:solidFill>
                <a:latin typeface="Corbel" pitchFamily="34" charset="0"/>
              </a:rPr>
            </a:br>
            <a:r>
              <a:rPr lang="nl-NL" sz="800" dirty="0">
                <a:solidFill>
                  <a:schemeClr val="bg1"/>
                </a:solidFill>
                <a:latin typeface="Corbel" pitchFamily="34" charset="0"/>
              </a:rPr>
              <a:t>Ph: +31 (0) 20 4895711</a:t>
            </a:r>
            <a:endParaRPr lang="en-IN" sz="800" dirty="0">
              <a:solidFill>
                <a:schemeClr val="bg1"/>
              </a:solidFill>
              <a:latin typeface="Corbel" pitchFamily="34" charset="0"/>
            </a:endParaRPr>
          </a:p>
        </p:txBody>
      </p:sp>
      <p:sp>
        <p:nvSpPr>
          <p:cNvPr id="49" name="Rectangle 48"/>
          <p:cNvSpPr/>
          <p:nvPr userDrawn="1"/>
        </p:nvSpPr>
        <p:spPr>
          <a:xfrm>
            <a:off x="3805372" y="4257897"/>
            <a:ext cx="175260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l-NL" sz="900" b="1" dirty="0">
                <a:solidFill>
                  <a:schemeClr val="bg1"/>
                </a:solidFill>
                <a:latin typeface="Corbel" pitchFamily="34" charset="0"/>
              </a:rPr>
              <a:t>Prodapt Consulting BV</a:t>
            </a:r>
          </a:p>
          <a:p>
            <a:r>
              <a:rPr lang="nl-NL" sz="800" b="1" dirty="0">
                <a:solidFill>
                  <a:schemeClr val="bg1"/>
                </a:solidFill>
                <a:latin typeface="Corbel" pitchFamily="34" charset="0"/>
              </a:rPr>
              <a:t>Rijswijk</a:t>
            </a:r>
            <a:r>
              <a:rPr lang="nl-NL" sz="800" dirty="0">
                <a:solidFill>
                  <a:schemeClr val="bg1"/>
                </a:solidFill>
                <a:latin typeface="Corbel" pitchFamily="34" charset="0"/>
              </a:rPr>
              <a:t>: De Bruyn Kopsstraat 14</a:t>
            </a:r>
            <a:br>
              <a:rPr lang="nl-NL" sz="800" dirty="0">
                <a:solidFill>
                  <a:schemeClr val="bg1"/>
                </a:solidFill>
                <a:latin typeface="Corbel" pitchFamily="34" charset="0"/>
              </a:rPr>
            </a:br>
            <a:r>
              <a:rPr lang="nl-NL" sz="800" dirty="0">
                <a:solidFill>
                  <a:schemeClr val="bg1"/>
                </a:solidFill>
                <a:latin typeface="Corbel" pitchFamily="34" charset="0"/>
              </a:rPr>
              <a:t>Ph: +31 (0) 70 4140722</a:t>
            </a:r>
          </a:p>
          <a:p>
            <a:r>
              <a:rPr lang="en-IN" sz="800" dirty="0">
                <a:solidFill>
                  <a:schemeClr val="bg1"/>
                </a:solidFill>
                <a:latin typeface="Corbel" pitchFamily="34" charset="0"/>
              </a:rPr>
              <a:t>Fax: +31 70 3030047</a:t>
            </a:r>
          </a:p>
        </p:txBody>
      </p:sp>
      <p:sp>
        <p:nvSpPr>
          <p:cNvPr id="51" name="Rectangle 50"/>
          <p:cNvSpPr/>
          <p:nvPr userDrawn="1"/>
        </p:nvSpPr>
        <p:spPr>
          <a:xfrm>
            <a:off x="1983649" y="3461468"/>
            <a:ext cx="38985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200" b="1" dirty="0">
                <a:solidFill>
                  <a:schemeClr val="bg1"/>
                </a:solidFill>
                <a:latin typeface="Corbel" pitchFamily="34" charset="0"/>
              </a:rPr>
              <a:t>UK</a:t>
            </a:r>
            <a:endParaRPr lang="en-IN" sz="1200" b="1" dirty="0">
              <a:latin typeface="Corbel" pitchFamily="34" charset="0"/>
            </a:endParaRPr>
          </a:p>
        </p:txBody>
      </p:sp>
      <p:sp>
        <p:nvSpPr>
          <p:cNvPr id="52" name="Rectangle 51"/>
          <p:cNvSpPr/>
          <p:nvPr userDrawn="1"/>
        </p:nvSpPr>
        <p:spPr>
          <a:xfrm>
            <a:off x="1984940" y="3701268"/>
            <a:ext cx="1825060" cy="723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900" b="1" dirty="0">
                <a:solidFill>
                  <a:schemeClr val="bg1"/>
                </a:solidFill>
                <a:latin typeface="Corbel" pitchFamily="34" charset="0"/>
              </a:rPr>
              <a:t>Prodapt Solutions Europe</a:t>
            </a:r>
          </a:p>
          <a:p>
            <a:r>
              <a:rPr lang="en-IN" sz="800" b="1" dirty="0">
                <a:solidFill>
                  <a:schemeClr val="bg1"/>
                </a:solidFill>
                <a:latin typeface="Corbel" pitchFamily="34" charset="0"/>
              </a:rPr>
              <a:t>London:</a:t>
            </a:r>
            <a:r>
              <a:rPr lang="en-IN" sz="800" b="1" baseline="0" dirty="0">
                <a:solidFill>
                  <a:schemeClr val="bg1"/>
                </a:solidFill>
                <a:latin typeface="Corbel" pitchFamily="34" charset="0"/>
              </a:rPr>
              <a:t> </a:t>
            </a:r>
            <a:r>
              <a:rPr lang="en-IN" sz="800" b="0" dirty="0">
                <a:solidFill>
                  <a:schemeClr val="bg1"/>
                </a:solidFill>
                <a:latin typeface="Corbel" pitchFamily="34" charset="0"/>
              </a:rPr>
              <a:t>Devonshire House, 60 Goswell Road, EC1M 7AD</a:t>
            </a:r>
          </a:p>
          <a:p>
            <a:r>
              <a:rPr lang="en-IN" sz="800" b="0" dirty="0">
                <a:solidFill>
                  <a:schemeClr val="bg1"/>
                </a:solidFill>
                <a:latin typeface="Corbel" pitchFamily="34" charset="0"/>
              </a:rPr>
              <a:t>Ph: +44 (0) 11 8900 1068</a:t>
            </a:r>
          </a:p>
          <a:p>
            <a:r>
              <a:rPr lang="en-IN" sz="800" b="0" dirty="0">
                <a:solidFill>
                  <a:schemeClr val="bg1"/>
                </a:solidFill>
                <a:latin typeface="Corbel" pitchFamily="34" charset="0"/>
              </a:rPr>
              <a:t>Fax: +44 (0) 11 8900 1069</a:t>
            </a:r>
            <a:endParaRPr lang="nl-NL" sz="800" b="0" dirty="0">
              <a:solidFill>
                <a:schemeClr val="bg1"/>
              </a:solidFill>
              <a:latin typeface="Corbel" pitchFamily="34" charset="0"/>
            </a:endParaRPr>
          </a:p>
        </p:txBody>
      </p:sp>
      <p:pic>
        <p:nvPicPr>
          <p:cNvPr id="38" name="Picture 37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4775" y="1824724"/>
            <a:ext cx="673462" cy="122452"/>
          </a:xfrm>
          <a:prstGeom prst="rect">
            <a:avLst/>
          </a:prstGeom>
          <a:effectLst>
            <a:outerShdw blurRad="50800" dir="2700000" sx="86000" sy="86000" kx="-800400" algn="bl" rotWithShape="0">
              <a:prstClr val="black">
                <a:alpha val="99000"/>
              </a:prstClr>
            </a:outerShdw>
          </a:effectLst>
        </p:spPr>
      </p:pic>
      <p:sp>
        <p:nvSpPr>
          <p:cNvPr id="50" name="Rectangle 49"/>
          <p:cNvSpPr/>
          <p:nvPr userDrawn="1"/>
        </p:nvSpPr>
        <p:spPr>
          <a:xfrm>
            <a:off x="5267325" y="1776218"/>
            <a:ext cx="61908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nl-NL" sz="800" dirty="0">
                <a:latin typeface="Corbel" panose="020B0503020204020204" pitchFamily="34" charset="0"/>
              </a:rPr>
              <a:t>Bengaluru</a:t>
            </a:r>
            <a:endParaRPr lang="en-IN" sz="800" dirty="0"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74461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96" userDrawn="1">
          <p15:clr>
            <a:srgbClr val="FBAE40"/>
          </p15:clr>
        </p15:guide>
        <p15:guide id="2" pos="129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0"/>
            <a:ext cx="8610600" cy="666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819150"/>
            <a:ext cx="8610600" cy="3962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1" r:id="rId5"/>
    <p:sldLayoutId id="2147483660" r:id="rId6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lang="en-US" sz="2000" b="0" i="0" kern="1200" dirty="0">
          <a:solidFill>
            <a:schemeClr val="tx2"/>
          </a:solidFill>
          <a:latin typeface="Corbel" panose="020B0503020204020204" pitchFamily="34" charset="0"/>
          <a:ea typeface="+mj-ea"/>
          <a:cs typeface="Corbel" panose="020B0503020204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D9D866-0BD5-41EE-9FA5-B484E1E35F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/>
                </a:solidFill>
              </a:rPr>
              <a:pPr/>
              <a:t>1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D866DCD-5FA8-4A50-9B78-B5DC02F5C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Akash Petkar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1C00343-2D61-457E-A455-536146D485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6654" y="522010"/>
            <a:ext cx="6767702" cy="44585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350" b="1" cap="small" dirty="0">
                <a:latin typeface="Calibri" panose="020F0502020204030204" pitchFamily="34" charset="0"/>
              </a:rPr>
              <a:t>Professional Experience: </a:t>
            </a:r>
            <a:r>
              <a:rPr lang="en-US" sz="1350" b="1" cap="small" dirty="0">
                <a:solidFill>
                  <a:srgbClr val="FF0000"/>
                </a:solidFill>
                <a:latin typeface="Calibri" panose="020F0502020204030204" pitchFamily="34" charset="0"/>
              </a:rPr>
              <a:t>Java, Webservices, MySQL</a:t>
            </a:r>
          </a:p>
          <a:p>
            <a:endParaRPr lang="en-US" sz="825" b="1" dirty="0">
              <a:solidFill>
                <a:srgbClr val="333333"/>
              </a:solidFill>
              <a:latin typeface="Roboto"/>
            </a:endParaRPr>
          </a:p>
          <a:p>
            <a:pPr fontAlgn="base"/>
            <a:r>
              <a:rPr lang="en-US" sz="900" b="1" dirty="0">
                <a:solidFill>
                  <a:srgbClr val="333333"/>
                </a:solidFill>
                <a:latin typeface="Roboto"/>
              </a:rPr>
              <a:t>Responsibilities Handling Capacity</a:t>
            </a:r>
          </a:p>
          <a:p>
            <a:pPr fontAlgn="base"/>
            <a:br>
              <a:rPr lang="en-US" sz="825" dirty="0"/>
            </a:br>
            <a:r>
              <a:rPr lang="en-US" sz="900" dirty="0"/>
              <a:t>2</a:t>
            </a:r>
            <a:r>
              <a:rPr lang="en-US" sz="900" dirty="0">
                <a:solidFill>
                  <a:srgbClr val="333333"/>
                </a:solidFill>
                <a:latin typeface="Roboto"/>
              </a:rPr>
              <a:t>+ years of experience in the IT industry with Back-end and development </a:t>
            </a:r>
            <a:r>
              <a:rPr lang="en-US" sz="900" dirty="0"/>
              <a:t>experience along with Java .</a:t>
            </a:r>
            <a:r>
              <a:rPr lang="en-US" sz="900" dirty="0">
                <a:solidFill>
                  <a:srgbClr val="333333"/>
                </a:solidFill>
                <a:latin typeface="Roboto"/>
              </a:rPr>
              <a:t> Experience in Spring, Spring MVC, Hibernate, Spring boot, GIT repository, RDMS tools like MySQL. </a:t>
            </a:r>
          </a:p>
          <a:p>
            <a:pPr fontAlgn="base"/>
            <a:endParaRPr lang="en-US" sz="900" dirty="0">
              <a:solidFill>
                <a:srgbClr val="333333"/>
              </a:solidFill>
              <a:latin typeface="Roboto"/>
            </a:endParaRPr>
          </a:p>
          <a:p>
            <a:pPr marL="128588" indent="-128588" fontAlgn="base">
              <a:buFont typeface="Wingdings" panose="05000000000000000000" pitchFamily="2" charset="2"/>
              <a:buChar char="§"/>
            </a:pPr>
            <a:r>
              <a:rPr lang="en-US" sz="900" dirty="0">
                <a:solidFill>
                  <a:srgbClr val="333333"/>
                </a:solidFill>
                <a:latin typeface="Roboto"/>
              </a:rPr>
              <a:t>Experience in building J2ee stack.</a:t>
            </a:r>
          </a:p>
          <a:p>
            <a:pPr marL="128588" indent="-128588" fontAlgn="base">
              <a:buFont typeface="Wingdings" panose="05000000000000000000" pitchFamily="2" charset="2"/>
              <a:buChar char="§"/>
            </a:pPr>
            <a:r>
              <a:rPr lang="en-IN" sz="900" dirty="0">
                <a:solidFill>
                  <a:srgbClr val="333333"/>
                </a:solidFill>
                <a:latin typeface="Roboto"/>
              </a:rPr>
              <a:t>Having the knowledge in Web services protocols like REST and experience in developing HTTP using Spring framework.</a:t>
            </a:r>
          </a:p>
          <a:p>
            <a:pPr marL="128588" indent="-128588" fontAlgn="base">
              <a:buFont typeface="Wingdings" panose="05000000000000000000" pitchFamily="2" charset="2"/>
              <a:buChar char="§"/>
            </a:pPr>
            <a:r>
              <a:rPr lang="en-US" sz="900" dirty="0">
                <a:solidFill>
                  <a:srgbClr val="333333"/>
                </a:solidFill>
                <a:latin typeface="Roboto"/>
              </a:rPr>
              <a:t>Experience developing Enterprise applications using Java/J2EE, Spring, Spring Boot, Hibernate, JPA, JSON, XML Schema, Web Services, Maven.</a:t>
            </a:r>
          </a:p>
          <a:p>
            <a:pPr marL="128588" indent="-128588" fontAlgn="base">
              <a:buFont typeface="Wingdings" panose="05000000000000000000" pitchFamily="2" charset="2"/>
              <a:buChar char="§"/>
            </a:pPr>
            <a:r>
              <a:rPr lang="en-US" sz="900" dirty="0">
                <a:solidFill>
                  <a:srgbClr val="333333"/>
                </a:solidFill>
                <a:latin typeface="Roboto"/>
              </a:rPr>
              <a:t>Experience in understanding Application functionality and proposing required SDLC steps.</a:t>
            </a:r>
          </a:p>
          <a:p>
            <a:pPr marL="128588" indent="-128588" fontAlgn="base">
              <a:buFont typeface="Wingdings" panose="05000000000000000000" pitchFamily="2" charset="2"/>
              <a:buChar char="§"/>
            </a:pPr>
            <a:r>
              <a:rPr lang="en-US" sz="900" dirty="0">
                <a:solidFill>
                  <a:srgbClr val="333333"/>
                </a:solidFill>
                <a:latin typeface="Roboto"/>
              </a:rPr>
              <a:t>Well-versed in architecting Webservices on a variety of platforms that includes Java, Spring Boot</a:t>
            </a:r>
          </a:p>
          <a:p>
            <a:pPr marL="128588" indent="-128588" fontAlgn="base">
              <a:buFont typeface="Wingdings" panose="05000000000000000000" pitchFamily="2" charset="2"/>
              <a:buChar char="§"/>
            </a:pPr>
            <a:r>
              <a:rPr lang="en-US" sz="900" dirty="0">
                <a:latin typeface="Roboto"/>
                <a:ea typeface="+mn-lt"/>
                <a:cs typeface="+mn-lt"/>
              </a:rPr>
              <a:t>Working closely with other developers</a:t>
            </a:r>
            <a:r>
              <a:rPr lang="en-US" sz="900" dirty="0">
                <a:solidFill>
                  <a:srgbClr val="333333"/>
                </a:solidFill>
                <a:latin typeface="Roboto"/>
                <a:ea typeface="+mn-lt"/>
                <a:cs typeface="+mn-lt"/>
              </a:rPr>
              <a:t>.</a:t>
            </a:r>
            <a:endParaRPr lang="en-US" sz="900" dirty="0">
              <a:solidFill>
                <a:srgbClr val="333333"/>
              </a:solidFill>
              <a:latin typeface="Roboto"/>
            </a:endParaRPr>
          </a:p>
          <a:p>
            <a:pPr fontAlgn="base"/>
            <a:endParaRPr lang="en-US" sz="825" dirty="0">
              <a:solidFill>
                <a:srgbClr val="333333"/>
              </a:solidFill>
              <a:latin typeface="Roboto"/>
            </a:endParaRPr>
          </a:p>
          <a:p>
            <a:pPr fontAlgn="base"/>
            <a:r>
              <a:rPr lang="en-US" sz="1000" b="1" dirty="0">
                <a:solidFill>
                  <a:srgbClr val="333333"/>
                </a:solidFill>
                <a:latin typeface="Roboto"/>
              </a:rPr>
              <a:t>Key Technical and Professional Expertise</a:t>
            </a:r>
          </a:p>
          <a:p>
            <a:pPr marL="71999" indent="71999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rgbClr val="333333"/>
                </a:solidFill>
                <a:latin typeface="Roboto"/>
              </a:rPr>
              <a:t>Good exposure in designing and implementing projects with a good eye for understanding and tuning performance.</a:t>
            </a:r>
          </a:p>
          <a:p>
            <a:pPr marL="128588" indent="-128588" fontAlgn="base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rgbClr val="333333"/>
                </a:solidFill>
                <a:latin typeface="Roboto"/>
              </a:rPr>
              <a:t>Worked on tools such as  Postman, ARC for API testing. </a:t>
            </a:r>
          </a:p>
          <a:p>
            <a:pPr marL="128588" indent="-128588" fontAlgn="base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rgbClr val="333333"/>
                </a:solidFill>
                <a:latin typeface="Roboto"/>
              </a:rPr>
              <a:t>Worked based on Agile technology.</a:t>
            </a:r>
            <a:endParaRPr lang="en-US" sz="1000" dirty="0"/>
          </a:p>
          <a:p>
            <a:pPr marL="128588" indent="-128588" fontAlgn="base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rgbClr val="333333"/>
                </a:solidFill>
                <a:latin typeface="Roboto"/>
              </a:rPr>
              <a:t>Willing to take additional responsibilities to understand on-premise/legacy system.</a:t>
            </a:r>
          </a:p>
          <a:p>
            <a:pPr marL="128588" indent="-128588" fontAlgn="base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rgbClr val="333333"/>
                </a:solidFill>
                <a:latin typeface="Roboto"/>
                <a:ea typeface="Roboto"/>
              </a:rPr>
              <a:t>Experience in debugging</a:t>
            </a:r>
            <a:endParaRPr lang="en-US" sz="1000" dirty="0">
              <a:solidFill>
                <a:srgbClr val="333333"/>
              </a:solidFill>
              <a:latin typeface="Roboto"/>
            </a:endParaRPr>
          </a:p>
          <a:p>
            <a:pPr fontAlgn="base"/>
            <a:endParaRPr lang="en-US" sz="825" b="1" dirty="0">
              <a:solidFill>
                <a:srgbClr val="333333"/>
              </a:solidFill>
              <a:latin typeface="Roboto"/>
            </a:endParaRPr>
          </a:p>
          <a:p>
            <a:pPr fontAlgn="base"/>
            <a:r>
              <a:rPr lang="en-US" sz="1000" b="1" dirty="0">
                <a:solidFill>
                  <a:srgbClr val="333333"/>
                </a:solidFill>
                <a:latin typeface="Roboto"/>
              </a:rPr>
              <a:t>Other Technical and Professional Expertise</a:t>
            </a:r>
          </a:p>
          <a:p>
            <a:pPr marL="128588" indent="-128588" fontAlgn="base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rgbClr val="333333"/>
                </a:solidFill>
                <a:latin typeface="Roboto"/>
              </a:rPr>
              <a:t>Experience with development and pair programming</a:t>
            </a:r>
          </a:p>
          <a:p>
            <a:pPr marL="128588" indent="-128588" fontAlgn="base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rgbClr val="333333"/>
                </a:solidFill>
                <a:latin typeface="Roboto"/>
              </a:rPr>
              <a:t>Propose with new ideas to improve the code standards and quality.</a:t>
            </a:r>
            <a:endParaRPr lang="en-US" sz="1000" dirty="0">
              <a:solidFill>
                <a:srgbClr val="333333"/>
              </a:solidFill>
              <a:latin typeface="Roboto"/>
              <a:ea typeface="Roboto"/>
            </a:endParaRPr>
          </a:p>
          <a:p>
            <a:pPr marL="128588" indent="-128588" fontAlgn="base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rgbClr val="333333"/>
                </a:solidFill>
                <a:latin typeface="Roboto"/>
              </a:rPr>
              <a:t>Good co-ordination skill along with team effort and willing to understand opinions from team.</a:t>
            </a:r>
          </a:p>
          <a:p>
            <a:pPr marL="128588" indent="-128588" fontAlgn="base">
              <a:buFont typeface="Wingdings" panose="05000000000000000000" pitchFamily="2" charset="2"/>
              <a:buChar char="§"/>
            </a:pPr>
            <a:r>
              <a:rPr lang="en-US" sz="1000" dirty="0">
                <a:solidFill>
                  <a:srgbClr val="333333"/>
                </a:solidFill>
                <a:latin typeface="Roboto"/>
              </a:rPr>
              <a:t> Ambitious individual who can work under their own direction towards agreed targets/goals and with creative approach to work</a:t>
            </a:r>
          </a:p>
          <a:p>
            <a:pPr fontAlgn="base"/>
            <a:endParaRPr lang="en-US" sz="825" dirty="0">
              <a:solidFill>
                <a:srgbClr val="333333"/>
              </a:solidFill>
              <a:latin typeface="Roboto"/>
            </a:endParaRPr>
          </a:p>
          <a:p>
            <a:endParaRPr lang="en-US" altLang="en-US" sz="825" dirty="0"/>
          </a:p>
        </p:txBody>
      </p:sp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0F3CA190-ECC8-4A9C-806F-9A9646F7E01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98" y="4197865"/>
            <a:ext cx="885410" cy="358322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B4D1193C-5BC5-46D2-813F-1D301B95E9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02456" y="3331058"/>
            <a:ext cx="588253" cy="588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D833F115-4ADE-4689-AFCC-7DDF31E0F7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229009" y="4148035"/>
            <a:ext cx="817925" cy="651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pring Boot Command Line Runner Example.">
            <a:extLst>
              <a:ext uri="{FF2B5EF4-FFF2-40B4-BE49-F238E27FC236}">
                <a16:creationId xmlns:a16="http://schemas.microsoft.com/office/drawing/2014/main" id="{92802E46-1DAD-495B-A7D4-A64CAB0E56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7043" y="3422315"/>
            <a:ext cx="885410" cy="496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5030" y="893744"/>
            <a:ext cx="1480643" cy="2015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241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14621</TotalTime>
  <Words>251</Words>
  <Application>Microsoft Office PowerPoint</Application>
  <PresentationFormat>On-screen Show (16:9)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Corbel</vt:lpstr>
      <vt:lpstr>Roboto</vt:lpstr>
      <vt:lpstr>Wingdings</vt:lpstr>
      <vt:lpstr>Office Theme</vt:lpstr>
      <vt:lpstr>Akash Petkar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Lenin Nair VJ</dc:creator>
  <cp:lastModifiedBy>Akash Petkar</cp:lastModifiedBy>
  <cp:revision>942</cp:revision>
  <dcterms:created xsi:type="dcterms:W3CDTF">2006-08-16T00:00:00Z</dcterms:created>
  <dcterms:modified xsi:type="dcterms:W3CDTF">2022-04-13T09:35:43Z</dcterms:modified>
</cp:coreProperties>
</file>