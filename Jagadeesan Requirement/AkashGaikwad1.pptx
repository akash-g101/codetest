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830142861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97D"/>
    <a:srgbClr val="FFFFFF"/>
    <a:srgbClr val="E8E4E5"/>
    <a:srgbClr val="DD3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77810-BFEC-C8D3-B329-22229162D6C0}" v="475" dt="2022-04-25T10:17:41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6" autoAdjust="0"/>
    <p:restoredTop sz="94660"/>
  </p:normalViewPr>
  <p:slideViewPr>
    <p:cSldViewPr>
      <p:cViewPr varScale="1">
        <p:scale>
          <a:sx n="113" d="100"/>
          <a:sy n="113" d="100"/>
        </p:scale>
        <p:origin x="432" y="77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086"/>
    </p:cViewPr>
  </p:sorterViewPr>
  <p:notesViewPr>
    <p:cSldViewPr showGuides="1">
      <p:cViewPr varScale="1">
        <p:scale>
          <a:sx n="67" d="100"/>
          <a:sy n="67" d="100"/>
        </p:scale>
        <p:origin x="-3168" y="-8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0BE15-B219-455C-925B-3ECFBC126D1E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88576-3CFD-49D7-AA59-A210A7851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0678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71802-8278-40A4-AF5A-6E98D7DEF830}" type="datetimeFigureOut">
              <a:rPr lang="en-US" smtClean="0"/>
              <a:t>4/25/2022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3A65-825A-4F77-9D3F-E239C1633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4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3562350"/>
            <a:ext cx="9144000" cy="990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38600" y="3714750"/>
            <a:ext cx="0" cy="685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3" descr="D:\VJ GDrive\Work\Prodapt About\Prodapt Brand Guidelines\prodapt_logo_red_with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66505"/>
            <a:ext cx="2590800" cy="55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91000" y="3588228"/>
            <a:ext cx="4547913" cy="457199"/>
          </a:xfrm>
        </p:spPr>
        <p:txBody>
          <a:bodyPr/>
          <a:lstStyle>
            <a:lvl1pPr algn="l">
              <a:defRPr lang="en-US" sz="2400" b="1" i="0" kern="1200" dirty="0">
                <a:solidFill>
                  <a:srgbClr val="29397D"/>
                </a:solidFill>
                <a:latin typeface="Corbel" panose="020B0503020204020204" pitchFamily="34" charset="0"/>
                <a:ea typeface="+mj-ea"/>
                <a:cs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191000" y="4095750"/>
            <a:ext cx="4572000" cy="381000"/>
          </a:xfrm>
        </p:spPr>
        <p:txBody>
          <a:bodyPr>
            <a:noAutofit/>
          </a:bodyPr>
          <a:lstStyle>
            <a:lvl1pPr marL="342900" indent="-342900">
              <a:buNone/>
              <a:defRPr lang="en-US" sz="1600" dirty="0" smtClean="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itchFamily="34" charset="0"/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itchFamily="34" charset="0"/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itchFamily="34" charset="0"/>
              </a:defRPr>
            </a:lvl4pPr>
            <a:lvl5pPr>
              <a:defRPr lang="en-US" dirty="0">
                <a:solidFill>
                  <a:schemeClr val="tx1">
                    <a:tint val="75000"/>
                  </a:schemeClr>
                </a:solidFill>
                <a:latin typeface="Corbel" pitchFamily="34" charset="0"/>
              </a:defRPr>
            </a:lvl5pPr>
          </a:lstStyle>
          <a:p>
            <a:pPr marL="0" lvl="0" indent="0"/>
            <a:r>
              <a:rPr lang="en-US" dirty="0"/>
              <a:t>Click to edit Master text styles</a:t>
            </a:r>
          </a:p>
        </p:txBody>
      </p:sp>
      <p:sp>
        <p:nvSpPr>
          <p:cNvPr id="8" name="Right Triangle 7"/>
          <p:cNvSpPr/>
          <p:nvPr userDrawn="1"/>
        </p:nvSpPr>
        <p:spPr>
          <a:xfrm rot="10800000">
            <a:off x="8445103" y="130348"/>
            <a:ext cx="548640" cy="54864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" userDrawn="1">
          <p15:clr>
            <a:srgbClr val="FBAE40"/>
          </p15:clr>
        </p15:guide>
        <p15:guide id="2" pos="56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1"/>
            <a:ext cx="8607224" cy="65774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latin typeface="Corbel" panose="020B05030202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19150"/>
            <a:ext cx="8610600" cy="3962400"/>
          </a:xfrm>
        </p:spPr>
        <p:txBody>
          <a:bodyPr>
            <a:normAutofit/>
          </a:bodyPr>
          <a:lstStyle>
            <a:lvl1pPr marL="342900" indent="-342900">
              <a:buFont typeface="Arial" pitchFamily="34" charset="0"/>
              <a:buChar char="•"/>
              <a:defRPr sz="2000">
                <a:latin typeface="Corbel" panose="020B0503020204020204" pitchFamily="34" charset="0"/>
              </a:defRPr>
            </a:lvl1pPr>
            <a:lvl2pPr marL="742950" indent="-285750">
              <a:buFont typeface="Arial" pitchFamily="34" charset="0"/>
              <a:buChar char="•"/>
              <a:defRPr sz="1800">
                <a:latin typeface="Corbel" panose="020B0503020204020204" pitchFamily="34" charset="0"/>
              </a:defRPr>
            </a:lvl2pPr>
            <a:lvl3pPr marL="1143000" indent="-228600">
              <a:buFont typeface="Arial" pitchFamily="34" charset="0"/>
              <a:buChar char="•"/>
              <a:defRPr sz="1600">
                <a:latin typeface="Corbel" panose="020B0503020204020204" pitchFamily="34" charset="0"/>
              </a:defRPr>
            </a:lvl3pPr>
            <a:lvl4pPr marL="1600200" indent="-228600">
              <a:buFont typeface="Arial" pitchFamily="34" charset="0"/>
              <a:buChar char="•"/>
              <a:defRPr sz="1400">
                <a:latin typeface="Corbel" panose="020B0503020204020204" pitchFamily="34" charset="0"/>
              </a:defRPr>
            </a:lvl4pPr>
            <a:lvl5pPr marL="2057400" indent="-228600">
              <a:buFont typeface="Arial" pitchFamily="34" charset="0"/>
              <a:buChar char="•"/>
              <a:defRPr sz="140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572000" y="5030446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bg1"/>
                </a:solidFill>
                <a:latin typeface="Corbel" pitchFamily="34" charset="0"/>
              </a:rPr>
              <a:t>Confidential &amp; Restricted</a:t>
            </a:r>
          </a:p>
        </p:txBody>
      </p:sp>
      <p:pic>
        <p:nvPicPr>
          <p:cNvPr id="11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itchFamily="34" charset="0"/>
              </a:rPr>
              <a:t>Confidential &amp; Restricted</a:t>
            </a:r>
          </a:p>
        </p:txBody>
      </p:sp>
      <p:pic>
        <p:nvPicPr>
          <p:cNvPr id="17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/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Triangle 11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pic>
        <p:nvPicPr>
          <p:cNvPr id="12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itchFamily="34" charset="0"/>
              </a:rPr>
              <a:t>Confidential &amp; Restricted</a:t>
            </a:r>
          </a:p>
        </p:txBody>
      </p:sp>
      <p:pic>
        <p:nvPicPr>
          <p:cNvPr id="18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/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19150"/>
            <a:ext cx="4038600" cy="377547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dirty="0" smtClean="0">
                <a:latin typeface="Corbel" panose="020B0503020204020204" pitchFamily="34" charset="0"/>
              </a:defRPr>
            </a:lvl1pPr>
            <a:lvl2pPr>
              <a:defRPr lang="en-US" sz="1800" dirty="0" smtClean="0">
                <a:latin typeface="Corbel" panose="020B0503020204020204" pitchFamily="34" charset="0"/>
              </a:defRPr>
            </a:lvl2pPr>
            <a:lvl3pPr>
              <a:defRPr lang="en-US" sz="1600" dirty="0" smtClean="0">
                <a:latin typeface="Corbel" panose="020B0503020204020204" pitchFamily="34" charset="0"/>
              </a:defRPr>
            </a:lvl3pPr>
            <a:lvl4pPr>
              <a:defRPr lang="en-US" sz="1400" dirty="0" smtClean="0">
                <a:latin typeface="Corbel" panose="020B0503020204020204" pitchFamily="34" charset="0"/>
              </a:defRPr>
            </a:lvl4pPr>
            <a:lvl5pPr>
              <a:defRPr lang="en-US" sz="1400" dirty="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har char="•"/>
            </a:pPr>
            <a:r>
              <a:rPr lang="en-US" dirty="0"/>
              <a:t>Second level</a:t>
            </a:r>
          </a:p>
          <a:p>
            <a:pPr marL="1200150" lvl="2" indent="-285750"/>
            <a:r>
              <a:rPr lang="en-US" dirty="0"/>
              <a:t>Third level</a:t>
            </a:r>
          </a:p>
          <a:p>
            <a:pPr marL="1657350" lvl="3" indent="-285750">
              <a:buChar char="•"/>
            </a:pPr>
            <a:r>
              <a:rPr lang="en-US" dirty="0"/>
              <a:t>Fourth level</a:t>
            </a:r>
          </a:p>
          <a:p>
            <a:pPr marL="2114550" lvl="4" indent="-285750"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19150"/>
            <a:ext cx="4038600" cy="377547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dirty="0" smtClean="0">
                <a:latin typeface="Corbel" panose="020B0503020204020204" pitchFamily="34" charset="0"/>
              </a:defRPr>
            </a:lvl1pPr>
            <a:lvl2pPr>
              <a:defRPr lang="en-US" sz="1800" dirty="0" smtClean="0">
                <a:latin typeface="Corbel" panose="020B0503020204020204" pitchFamily="34" charset="0"/>
              </a:defRPr>
            </a:lvl2pPr>
            <a:lvl3pPr>
              <a:defRPr lang="en-US" sz="1600" dirty="0" smtClean="0">
                <a:latin typeface="Corbel" panose="020B0503020204020204" pitchFamily="34" charset="0"/>
              </a:defRPr>
            </a:lvl3pPr>
            <a:lvl4pPr>
              <a:defRPr lang="en-US" sz="1400" dirty="0" smtClean="0">
                <a:latin typeface="Corbel" panose="020B0503020204020204" pitchFamily="34" charset="0"/>
              </a:defRPr>
            </a:lvl4pPr>
            <a:lvl5pPr>
              <a:defRPr lang="en-US" sz="1400" dirty="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har char="•"/>
            </a:pPr>
            <a:r>
              <a:rPr lang="en-US" dirty="0"/>
              <a:t>Second level</a:t>
            </a:r>
          </a:p>
          <a:p>
            <a:pPr marL="1200150" lvl="2" indent="-285750"/>
            <a:r>
              <a:rPr lang="en-US" dirty="0"/>
              <a:t>Third level</a:t>
            </a:r>
          </a:p>
          <a:p>
            <a:pPr marL="1657350" lvl="3" indent="-285750">
              <a:buChar char="•"/>
            </a:pPr>
            <a:r>
              <a:rPr lang="en-US" dirty="0"/>
              <a:t>Fourth level</a:t>
            </a:r>
          </a:p>
          <a:p>
            <a:pPr marL="2114550" lvl="4" indent="-285750"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04800" y="12921"/>
            <a:ext cx="8370512" cy="644820"/>
          </a:xfrm>
        </p:spPr>
        <p:txBody>
          <a:bodyPr anchor="ctr" anchorCtr="0"/>
          <a:lstStyle>
            <a:lvl1pPr>
              <a:defRPr sz="2000" b="0" i="0">
                <a:latin typeface="Corbel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Right Triangle 10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itchFamily="34" charset="0"/>
              </a:rPr>
              <a:t>Confidential &amp; Restricted</a:t>
            </a:r>
          </a:p>
        </p:txBody>
      </p:sp>
      <p:pic>
        <p:nvPicPr>
          <p:cNvPr id="12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/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657741"/>
          </a:xfrm>
        </p:spPr>
        <p:txBody>
          <a:bodyPr/>
          <a:lstStyle>
            <a:lvl1pPr>
              <a:defRPr sz="2000" b="0" i="0"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sp>
        <p:nvSpPr>
          <p:cNvPr id="14" name="Right Triangle 13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562350"/>
            <a:ext cx="9144000" cy="6921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929902" y="3647096"/>
            <a:ext cx="0" cy="5152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D:\VJ GDrive\Work\Prodapt About\Prodapt Brand Guidelines\prodapt_logo_red_with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721144"/>
            <a:ext cx="1828800" cy="39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191000" y="3670521"/>
            <a:ext cx="4547913" cy="457199"/>
          </a:xfrm>
        </p:spPr>
        <p:txBody>
          <a:bodyPr/>
          <a:lstStyle>
            <a:lvl1pPr algn="l">
              <a:defRPr lang="en-US" sz="1800" b="1" i="0" kern="1200" dirty="0">
                <a:solidFill>
                  <a:srgbClr val="29397D"/>
                </a:solidFill>
                <a:latin typeface="Corbel" panose="020B0503020204020204" pitchFamily="34" charset="0"/>
                <a:ea typeface="+mj-ea"/>
                <a:cs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ight Triangle 8"/>
          <p:cNvSpPr/>
          <p:nvPr userDrawn="1"/>
        </p:nvSpPr>
        <p:spPr>
          <a:xfrm rot="10800000">
            <a:off x="8445103" y="130348"/>
            <a:ext cx="548640" cy="54864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02" y="-365"/>
            <a:ext cx="6604488" cy="3344014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328" y="1699125"/>
            <a:ext cx="722272" cy="13327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6" name="Rectangle 55"/>
          <p:cNvSpPr/>
          <p:nvPr userDrawn="1"/>
        </p:nvSpPr>
        <p:spPr>
          <a:xfrm>
            <a:off x="5643428" y="1657718"/>
            <a:ext cx="53412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800" dirty="0">
                <a:latin typeface="Corbel" panose="020B0503020204020204" pitchFamily="34" charset="0"/>
              </a:rPr>
              <a:t>Chennai</a:t>
            </a:r>
          </a:p>
        </p:txBody>
      </p:sp>
      <p:pic>
        <p:nvPicPr>
          <p:cNvPr id="58" name="Picture 5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360" y="2501319"/>
            <a:ext cx="722272" cy="13327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9" name="Rectangle 58"/>
          <p:cNvSpPr/>
          <p:nvPr userDrawn="1"/>
        </p:nvSpPr>
        <p:spPr>
          <a:xfrm>
            <a:off x="4617324" y="2453959"/>
            <a:ext cx="77938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800" dirty="0">
                <a:latin typeface="Corbel" panose="020B0503020204020204" pitchFamily="34" charset="0"/>
              </a:rPr>
              <a:t>Johannesburg</a:t>
            </a:r>
          </a:p>
        </p:txBody>
      </p:sp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200150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1" name="Rectangle 60"/>
          <p:cNvSpPr/>
          <p:nvPr userDrawn="1"/>
        </p:nvSpPr>
        <p:spPr>
          <a:xfrm>
            <a:off x="2905367" y="1153654"/>
            <a:ext cx="6014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New York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138" y="1471977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3" name="Rectangle 62"/>
          <p:cNvSpPr/>
          <p:nvPr userDrawn="1"/>
        </p:nvSpPr>
        <p:spPr>
          <a:xfrm>
            <a:off x="2617659" y="1425481"/>
            <a:ext cx="4427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Dallas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4" name="Picture 6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29" y="1349005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5" name="Rectangle 64"/>
          <p:cNvSpPr/>
          <p:nvPr userDrawn="1"/>
        </p:nvSpPr>
        <p:spPr>
          <a:xfrm>
            <a:off x="1562100" y="1297619"/>
            <a:ext cx="5325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Tualatin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6" name="Picture 6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932" y="427697"/>
            <a:ext cx="716353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7" name="Rectangle 66"/>
          <p:cNvSpPr/>
          <p:nvPr userDrawn="1"/>
        </p:nvSpPr>
        <p:spPr>
          <a:xfrm>
            <a:off x="4254586" y="374353"/>
            <a:ext cx="68640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Amsterdam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72" name="Picture 2" descr="D:\work\Laptop\office purpose\prodapt_Logos\prodapt_logo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58251" y="1594102"/>
            <a:ext cx="1614410" cy="444248"/>
          </a:xfrm>
          <a:prstGeom prst="rect">
            <a:avLst/>
          </a:prstGeom>
          <a:noFill/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986" y="812219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74" name="Rectangle 73"/>
          <p:cNvSpPr/>
          <p:nvPr userDrawn="1"/>
        </p:nvSpPr>
        <p:spPr>
          <a:xfrm>
            <a:off x="3700067" y="765723"/>
            <a:ext cx="5100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London</a:t>
            </a:r>
            <a:endParaRPr lang="en-IN" sz="800" dirty="0">
              <a:latin typeface="Corbel" panose="020B0503020204020204" pitchFamily="34" charset="0"/>
            </a:endParaRPr>
          </a:p>
        </p:txBody>
      </p:sp>
      <p:sp>
        <p:nvSpPr>
          <p:cNvPr id="75" name="Rectangle 74"/>
          <p:cNvSpPr/>
          <p:nvPr userDrawn="1"/>
        </p:nvSpPr>
        <p:spPr>
          <a:xfrm>
            <a:off x="7162800" y="1197173"/>
            <a:ext cx="1211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Corbel" pitchFamily="34" charset="0"/>
              </a:rPr>
              <a:t>THANK</a:t>
            </a:r>
            <a:r>
              <a:rPr lang="en-IN" sz="1400" b="1" baseline="0" dirty="0">
                <a:solidFill>
                  <a:schemeClr val="bg1"/>
                </a:solidFill>
                <a:latin typeface="Corbel" pitchFamily="34" charset="0"/>
              </a:rPr>
              <a:t> YOU!</a:t>
            </a:r>
            <a:endParaRPr lang="en-IN" sz="1400" b="1" dirty="0">
              <a:solidFill>
                <a:schemeClr val="bg1"/>
              </a:solidFill>
              <a:latin typeface="Corbel" pitchFamily="34" charset="0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7442204" y="3704333"/>
            <a:ext cx="1676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  <a:latin typeface="Corbel" pitchFamily="34" charset="0"/>
              </a:rPr>
              <a:t>Prodapt Solutions Pvt. Ltd. </a:t>
            </a:r>
            <a:r>
              <a:rPr lang="fr-FR" sz="800" b="1" dirty="0">
                <a:solidFill>
                  <a:schemeClr val="bg1"/>
                </a:solidFill>
                <a:latin typeface="Corbel" pitchFamily="34" charset="0"/>
              </a:rPr>
              <a:t>Chennai: </a:t>
            </a:r>
            <a:endParaRPr lang="en-IN" sz="800" b="1" dirty="0">
              <a:solidFill>
                <a:schemeClr val="bg1"/>
              </a:solidFill>
              <a:latin typeface="Corbel" pitchFamily="34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7442204" y="3456603"/>
            <a:ext cx="587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Corbel" pitchFamily="34" charset="0"/>
              </a:rPr>
              <a:t>INDIA</a:t>
            </a:r>
            <a:endParaRPr lang="en-IN" sz="1200" b="1" dirty="0">
              <a:latin typeface="Corbel" pitchFamily="34" charset="0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7442204" y="4008989"/>
            <a:ext cx="1350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1. Prince Infocity II, OMR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+91 44 4903 3000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+91 44 4903 3010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7442204" y="4484127"/>
            <a:ext cx="1676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2. “Chennai One” SEZ, 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Thoraipakkam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+91 44 4230 2300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+91 44 4903 3010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5924550" y="3458718"/>
            <a:ext cx="12246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itchFamily="34" charset="0"/>
              </a:rPr>
              <a:t>SOUTH AFRICA</a:t>
            </a:r>
          </a:p>
        </p:txBody>
      </p:sp>
      <p:sp>
        <p:nvSpPr>
          <p:cNvPr id="42" name="Rectangle 41"/>
          <p:cNvSpPr/>
          <p:nvPr userDrawn="1"/>
        </p:nvSpPr>
        <p:spPr>
          <a:xfrm>
            <a:off x="87372" y="3456801"/>
            <a:ext cx="4812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itchFamily="34" charset="0"/>
              </a:rPr>
              <a:t>USA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68322" y="3704531"/>
            <a:ext cx="23622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itchFamily="34" charset="0"/>
              </a:rPr>
              <a:t>Prodapt North America</a:t>
            </a:r>
          </a:p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Tualatin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: 7565 SW Mohawk St.,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+1 503 636 3737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+1 503 885 0850</a:t>
            </a:r>
          </a:p>
        </p:txBody>
      </p:sp>
      <p:sp>
        <p:nvSpPr>
          <p:cNvPr id="44" name="Rectangle 43"/>
          <p:cNvSpPr/>
          <p:nvPr userDrawn="1"/>
        </p:nvSpPr>
        <p:spPr>
          <a:xfrm>
            <a:off x="68322" y="4302100"/>
            <a:ext cx="1836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Dallas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: 222 W. Las Colinas Blvd., Irving 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+1 972 201 9009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+1 972 501 9019</a:t>
            </a:r>
          </a:p>
        </p:txBody>
      </p:sp>
      <p:sp>
        <p:nvSpPr>
          <p:cNvPr id="45" name="Rectangle 44"/>
          <p:cNvSpPr/>
          <p:nvPr userDrawn="1"/>
        </p:nvSpPr>
        <p:spPr>
          <a:xfrm>
            <a:off x="68322" y="4768734"/>
            <a:ext cx="19111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New York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: 1 Bridge Street, Irvington</a:t>
            </a:r>
          </a:p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+1</a:t>
            </a:r>
            <a:r>
              <a:rPr lang="en-IN" sz="800" baseline="0" dirty="0">
                <a:solidFill>
                  <a:schemeClr val="bg1"/>
                </a:solidFill>
                <a:latin typeface="Corbel" pitchFamily="34" charset="0"/>
              </a:rPr>
              <a:t> 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646 403 8158</a:t>
            </a:r>
          </a:p>
        </p:txBody>
      </p:sp>
      <p:sp>
        <p:nvSpPr>
          <p:cNvPr id="46" name="Rectangle 45"/>
          <p:cNvSpPr/>
          <p:nvPr userDrawn="1"/>
        </p:nvSpPr>
        <p:spPr>
          <a:xfrm>
            <a:off x="5939233" y="3706448"/>
            <a:ext cx="1261667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itchFamily="34" charset="0"/>
              </a:rPr>
              <a:t>Prodapt SA (Pty) Ltd.</a:t>
            </a:r>
          </a:p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Johannesburg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: No. 3, </a:t>
            </a:r>
          </a:p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3rd Avenue, Rivonia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+27 (0) 11 259 4000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+27 (0) 11 259 4111</a:t>
            </a:r>
          </a:p>
        </p:txBody>
      </p:sp>
      <p:sp>
        <p:nvSpPr>
          <p:cNvPr id="47" name="Rectangle 46"/>
          <p:cNvSpPr/>
          <p:nvPr userDrawn="1"/>
        </p:nvSpPr>
        <p:spPr>
          <a:xfrm>
            <a:off x="3805372" y="3456801"/>
            <a:ext cx="15712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itchFamily="34" charset="0"/>
              </a:rPr>
              <a:t>THE NETHERLANDS</a:t>
            </a:r>
          </a:p>
        </p:txBody>
      </p:sp>
      <p:sp>
        <p:nvSpPr>
          <p:cNvPr id="48" name="Rectangle 47"/>
          <p:cNvSpPr/>
          <p:nvPr userDrawn="1"/>
        </p:nvSpPr>
        <p:spPr>
          <a:xfrm>
            <a:off x="3805372" y="3704531"/>
            <a:ext cx="1985828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900" b="1" dirty="0">
                <a:solidFill>
                  <a:schemeClr val="bg1"/>
                </a:solidFill>
                <a:latin typeface="Corbel" pitchFamily="34" charset="0"/>
              </a:rPr>
              <a:t>Prodapt Solutions Europe</a:t>
            </a:r>
          </a:p>
          <a:p>
            <a:r>
              <a:rPr lang="nl-NL" sz="800" b="1" dirty="0">
                <a:solidFill>
                  <a:schemeClr val="bg1"/>
                </a:solidFill>
                <a:latin typeface="Corbel" pitchFamily="34" charset="0"/>
              </a:rPr>
              <a:t>Amsterdam</a:t>
            </a:r>
            <a:r>
              <a:rPr lang="nl-NL" sz="800" dirty="0">
                <a:solidFill>
                  <a:schemeClr val="bg1"/>
                </a:solidFill>
                <a:latin typeface="Corbel" pitchFamily="34" charset="0"/>
              </a:rPr>
              <a:t>: Zekeringstraat 17A, 1014 BM</a:t>
            </a:r>
            <a:br>
              <a:rPr lang="nl-NL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nl-NL" sz="800" dirty="0">
                <a:solidFill>
                  <a:schemeClr val="bg1"/>
                </a:solidFill>
                <a:latin typeface="Corbel" pitchFamily="34" charset="0"/>
              </a:rPr>
              <a:t>Ph: +31 (0) 20 4895711</a:t>
            </a:r>
            <a:endParaRPr lang="en-IN" sz="800" dirty="0">
              <a:solidFill>
                <a:schemeClr val="bg1"/>
              </a:solidFill>
              <a:latin typeface="Corbel" pitchFamily="34" charset="0"/>
            </a:endParaRPr>
          </a:p>
        </p:txBody>
      </p:sp>
      <p:sp>
        <p:nvSpPr>
          <p:cNvPr id="49" name="Rectangle 48"/>
          <p:cNvSpPr/>
          <p:nvPr userDrawn="1"/>
        </p:nvSpPr>
        <p:spPr>
          <a:xfrm>
            <a:off x="3805372" y="4257897"/>
            <a:ext cx="17526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900" b="1" dirty="0">
                <a:solidFill>
                  <a:schemeClr val="bg1"/>
                </a:solidFill>
                <a:latin typeface="Corbel" pitchFamily="34" charset="0"/>
              </a:rPr>
              <a:t>Prodapt Consulting BV</a:t>
            </a:r>
          </a:p>
          <a:p>
            <a:r>
              <a:rPr lang="nl-NL" sz="800" b="1" dirty="0">
                <a:solidFill>
                  <a:schemeClr val="bg1"/>
                </a:solidFill>
                <a:latin typeface="Corbel" pitchFamily="34" charset="0"/>
              </a:rPr>
              <a:t>Rijswijk</a:t>
            </a:r>
            <a:r>
              <a:rPr lang="nl-NL" sz="800" dirty="0">
                <a:solidFill>
                  <a:schemeClr val="bg1"/>
                </a:solidFill>
                <a:latin typeface="Corbel" pitchFamily="34" charset="0"/>
              </a:rPr>
              <a:t>: De Bruyn Kopsstraat 14</a:t>
            </a:r>
            <a:br>
              <a:rPr lang="nl-NL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nl-NL" sz="800" dirty="0">
                <a:solidFill>
                  <a:schemeClr val="bg1"/>
                </a:solidFill>
                <a:latin typeface="Corbel" pitchFamily="34" charset="0"/>
              </a:rPr>
              <a:t>Ph: +31 (0) 70 4140722</a:t>
            </a:r>
          </a:p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+31 70 3030047</a:t>
            </a:r>
          </a:p>
        </p:txBody>
      </p:sp>
      <p:sp>
        <p:nvSpPr>
          <p:cNvPr id="51" name="Rectangle 50"/>
          <p:cNvSpPr/>
          <p:nvPr userDrawn="1"/>
        </p:nvSpPr>
        <p:spPr>
          <a:xfrm>
            <a:off x="1983649" y="3461468"/>
            <a:ext cx="3898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Corbel" pitchFamily="34" charset="0"/>
              </a:rPr>
              <a:t>UK</a:t>
            </a:r>
            <a:endParaRPr lang="en-IN" sz="1200" b="1" dirty="0">
              <a:latin typeface="Corbel" pitchFamily="34" charset="0"/>
            </a:endParaRPr>
          </a:p>
        </p:txBody>
      </p:sp>
      <p:sp>
        <p:nvSpPr>
          <p:cNvPr id="52" name="Rectangle 51"/>
          <p:cNvSpPr/>
          <p:nvPr userDrawn="1"/>
        </p:nvSpPr>
        <p:spPr>
          <a:xfrm>
            <a:off x="1984940" y="3701268"/>
            <a:ext cx="182506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itchFamily="34" charset="0"/>
              </a:rPr>
              <a:t>Prodapt Solutions Europe</a:t>
            </a:r>
          </a:p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London:</a:t>
            </a:r>
            <a:r>
              <a:rPr lang="en-IN" sz="800" b="1" baseline="0" dirty="0">
                <a:solidFill>
                  <a:schemeClr val="bg1"/>
                </a:solidFill>
                <a:latin typeface="Corbel" pitchFamily="34" charset="0"/>
              </a:rPr>
              <a:t> </a:t>
            </a:r>
            <a:r>
              <a:rPr lang="en-IN" sz="800" b="0" dirty="0">
                <a:solidFill>
                  <a:schemeClr val="bg1"/>
                </a:solidFill>
                <a:latin typeface="Corbel" pitchFamily="34" charset="0"/>
              </a:rPr>
              <a:t>Devonshire House, 60 Goswell Road, EC1M 7AD</a:t>
            </a:r>
          </a:p>
          <a:p>
            <a:r>
              <a:rPr lang="en-IN" sz="800" b="0" dirty="0">
                <a:solidFill>
                  <a:schemeClr val="bg1"/>
                </a:solidFill>
                <a:latin typeface="Corbel" pitchFamily="34" charset="0"/>
              </a:rPr>
              <a:t>Ph: +44 (0) 11 8900 1068</a:t>
            </a:r>
          </a:p>
          <a:p>
            <a:r>
              <a:rPr lang="en-IN" sz="800" b="0" dirty="0">
                <a:solidFill>
                  <a:schemeClr val="bg1"/>
                </a:solidFill>
                <a:latin typeface="Corbel" pitchFamily="34" charset="0"/>
              </a:rPr>
              <a:t>Fax: +44 (0) 11 8900 1069</a:t>
            </a:r>
            <a:endParaRPr lang="nl-NL" sz="800" b="0" dirty="0">
              <a:solidFill>
                <a:schemeClr val="bg1"/>
              </a:solidFill>
              <a:latin typeface="Corbel" pitchFamily="34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775" y="1824724"/>
            <a:ext cx="673462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0" name="Rectangle 49"/>
          <p:cNvSpPr/>
          <p:nvPr userDrawn="1"/>
        </p:nvSpPr>
        <p:spPr>
          <a:xfrm>
            <a:off x="5267325" y="1776218"/>
            <a:ext cx="6190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Bengaluru</a:t>
            </a:r>
            <a:endParaRPr lang="en-IN" sz="8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46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96" userDrawn="1">
          <p15:clr>
            <a:srgbClr val="FBAE40"/>
          </p15:clr>
        </p15:guide>
        <p15:guide id="2" pos="1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666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610600" cy="396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1" r:id="rId5"/>
    <p:sldLayoutId id="2147483660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2000" b="0" i="0" kern="1200" dirty="0">
          <a:solidFill>
            <a:schemeClr val="tx2"/>
          </a:solidFill>
          <a:latin typeface="Corbel" panose="020B0503020204020204" pitchFamily="34" charset="0"/>
          <a:ea typeface="+mj-ea"/>
          <a:cs typeface="Corbel" panose="020B05030202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D9D866-0BD5-41EE-9FA5-B484E1E35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866DCD-5FA8-4A50-9B78-B5DC02F5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orbel"/>
              </a:rPr>
              <a:t>Akash Gaikwad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C00343-2D61-457E-A455-536146D4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904" y="466448"/>
            <a:ext cx="6767702" cy="4458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sz="1350" b="1" cap="small" dirty="0">
                <a:latin typeface="Calibri"/>
                <a:cs typeface="Calibri"/>
              </a:rPr>
              <a:t>Professional Experience: </a:t>
            </a:r>
            <a:r>
              <a:rPr lang="en-US" sz="1350" b="1" cap="small" dirty="0">
                <a:solidFill>
                  <a:srgbClr val="FF0000"/>
                </a:solidFill>
                <a:latin typeface="Calibri"/>
                <a:cs typeface="Calibri"/>
              </a:rPr>
              <a:t>Java, MySQL</a:t>
            </a:r>
          </a:p>
          <a:p>
            <a:endParaRPr lang="en-US" sz="825" b="1" dirty="0">
              <a:solidFill>
                <a:srgbClr val="333333"/>
              </a:solidFill>
              <a:latin typeface="Roboto"/>
            </a:endParaRPr>
          </a:p>
          <a:p>
            <a:pPr fontAlgn="base"/>
            <a:r>
              <a:rPr lang="en-US" sz="900" b="1" dirty="0">
                <a:solidFill>
                  <a:srgbClr val="333333"/>
                </a:solidFill>
                <a:latin typeface="Roboto"/>
              </a:rPr>
              <a:t>Responsibilities Handling Capacity</a:t>
            </a:r>
          </a:p>
          <a:p>
            <a:pPr fontAlgn="base"/>
            <a:br>
              <a:rPr lang="en-US" sz="800" dirty="0"/>
            </a:br>
            <a:r>
              <a:rPr lang="en-US" sz="1000" dirty="0">
                <a:solidFill>
                  <a:srgbClr val="333333"/>
                </a:solidFill>
                <a:latin typeface="Roboto"/>
              </a:rPr>
              <a:t>1.5 years of experience in the IT industry with Back-end and development experience along with Java, </a:t>
            </a:r>
            <a:r>
              <a:rPr lang="en-US" sz="1000" dirty="0" err="1">
                <a:solidFill>
                  <a:srgbClr val="333333"/>
                </a:solidFill>
                <a:latin typeface="Roboto"/>
              </a:rPr>
              <a:t>Sp</a:t>
            </a:r>
            <a:r>
              <a:rPr lang="en-US" sz="1000" dirty="0">
                <a:solidFill>
                  <a:srgbClr val="333333"/>
                </a:solidFill>
                <a:latin typeface="Roboto"/>
              </a:rPr>
              <a:t> . Experience in Hibernate, Spring boot, GIT, Relational Mapping tool – Hibernate and Database- MySQL. (</a:t>
            </a:r>
            <a:r>
              <a:rPr lang="en-US" sz="1000" dirty="0" err="1">
                <a:solidFill>
                  <a:srgbClr val="333333"/>
                </a:solidFill>
                <a:latin typeface="Roboto"/>
              </a:rPr>
              <a:t>SQLyog</a:t>
            </a:r>
            <a:r>
              <a:rPr lang="en-US" sz="1000" dirty="0">
                <a:solidFill>
                  <a:srgbClr val="333333"/>
                </a:solidFill>
                <a:latin typeface="Roboto"/>
              </a:rPr>
              <a:t>), Tomcat 8.0 as webserver.</a:t>
            </a:r>
            <a:endParaRPr lang="en-US" sz="1000" dirty="0">
              <a:solidFill>
                <a:srgbClr val="333333"/>
              </a:solidFill>
              <a:latin typeface="Roboto"/>
              <a:ea typeface="Roboto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endParaRPr lang="en-US" sz="1000" dirty="0">
              <a:solidFill>
                <a:srgbClr val="333333"/>
              </a:solidFill>
              <a:latin typeface="Roboto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Experience developing application  using Java/J2EE, Spring Boot, Hibernate, Maven.</a:t>
            </a: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Experience of testing on Swagger and Postman API. </a:t>
            </a: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IN" sz="1000" dirty="0">
                <a:solidFill>
                  <a:srgbClr val="333333"/>
                </a:solidFill>
                <a:latin typeface="Roboto"/>
              </a:rPr>
              <a:t>Having the knowledge in Web services protocols like REST. </a:t>
            </a:r>
            <a:endParaRPr lang="en-US" sz="1000" dirty="0">
              <a:solidFill>
                <a:srgbClr val="333333"/>
              </a:solidFill>
              <a:latin typeface="Roboto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Completing project concepts and maintain optimal workflow.</a:t>
            </a: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Working closely with other developers and development of project as per client needs.</a:t>
            </a:r>
          </a:p>
          <a:p>
            <a:pPr fontAlgn="base"/>
            <a:endParaRPr lang="en-US" sz="825" dirty="0">
              <a:solidFill>
                <a:srgbClr val="333333"/>
              </a:solidFill>
              <a:latin typeface="Roboto"/>
            </a:endParaRPr>
          </a:p>
          <a:p>
            <a:pPr fontAlgn="base"/>
            <a:r>
              <a:rPr lang="en-US" sz="1000" b="1" dirty="0">
                <a:solidFill>
                  <a:srgbClr val="333333"/>
                </a:solidFill>
                <a:latin typeface="Roboto"/>
              </a:rPr>
              <a:t>Key Technical and Professional Expertise</a:t>
            </a: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Continuous improvement as per client needs.</a:t>
            </a:r>
            <a:endParaRPr lang="en-US" sz="1000" dirty="0">
              <a:solidFill>
                <a:srgbClr val="333333"/>
              </a:solidFill>
              <a:latin typeface="Roboto"/>
              <a:ea typeface="Roboto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Worked on tools such as  Postman, Swagger for API testing. </a:t>
            </a:r>
            <a:endParaRPr lang="en-US" sz="1000" dirty="0">
              <a:solidFill>
                <a:srgbClr val="333333"/>
              </a:solidFill>
              <a:latin typeface="Roboto"/>
              <a:ea typeface="Roboto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Agile methodology of working. </a:t>
            </a:r>
          </a:p>
          <a:p>
            <a:pPr marL="128270" indent="-12827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  <a:ea typeface="Roboto"/>
              </a:rPr>
              <a:t>Understanding of basics of Microservices. </a:t>
            </a:r>
          </a:p>
          <a:p>
            <a:pPr fontAlgn="base"/>
            <a:endParaRPr lang="en-US" sz="825" b="1" dirty="0">
              <a:solidFill>
                <a:srgbClr val="333333"/>
              </a:solidFill>
              <a:latin typeface="Roboto"/>
              <a:ea typeface="Roboto"/>
            </a:endParaRPr>
          </a:p>
          <a:p>
            <a:pPr fontAlgn="base"/>
            <a:r>
              <a:rPr lang="en-US" sz="1000" b="1" dirty="0">
                <a:solidFill>
                  <a:srgbClr val="333333"/>
                </a:solidFill>
                <a:latin typeface="Roboto"/>
              </a:rPr>
              <a:t>Other Technical and Professional Expertise</a:t>
            </a:r>
            <a:endParaRPr lang="en-US" sz="1000" b="1" dirty="0">
              <a:solidFill>
                <a:srgbClr val="333333"/>
              </a:solidFill>
              <a:latin typeface="Roboto"/>
              <a:ea typeface="Roboto"/>
            </a:endParaRPr>
          </a:p>
          <a:p>
            <a:pPr marL="128270" indent="-128270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  <a:ea typeface="Roboto"/>
              </a:rPr>
              <a:t>Good at putting team efforts together and co-ordination to achieve the goal. </a:t>
            </a:r>
          </a:p>
          <a:p>
            <a:pPr marL="128270" indent="-12827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  <a:ea typeface="Roboto"/>
              </a:rPr>
              <a:t>Good listener. </a:t>
            </a:r>
          </a:p>
          <a:p>
            <a:pPr marL="128270" indent="-12827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  <a:ea typeface="Roboto"/>
              </a:rPr>
              <a:t>Have self-initiated, voluntary learning attitude with more focus on maintaining high level of consistency throughout the task.</a:t>
            </a:r>
          </a:p>
          <a:p>
            <a:endParaRPr lang="en-US" sz="1000" dirty="0">
              <a:solidFill>
                <a:srgbClr val="333333"/>
              </a:solidFill>
              <a:latin typeface="Roboto"/>
              <a:ea typeface="Roboto"/>
            </a:endParaRPr>
          </a:p>
          <a:p>
            <a:pPr fontAlgn="base"/>
            <a:endParaRPr lang="en-US" sz="825" dirty="0">
              <a:solidFill>
                <a:srgbClr val="333333"/>
              </a:solidFill>
              <a:latin typeface="Roboto"/>
              <a:ea typeface="Roboto"/>
              <a:cs typeface="Calibri"/>
            </a:endParaRPr>
          </a:p>
          <a:p>
            <a:endParaRPr lang="en-US" altLang="en-US" sz="825" dirty="0">
              <a:cs typeface="Calibri"/>
            </a:endParaRP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F3CA190-ECC8-4A9C-806F-9A9646F7E0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8" y="4197865"/>
            <a:ext cx="885410" cy="35832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4D1193C-5BC5-46D2-813F-1D301B95E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02456" y="3331058"/>
            <a:ext cx="588253" cy="58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833F115-4ADE-4689-AFCC-7DDF31E0F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29009" y="4148035"/>
            <a:ext cx="817925" cy="651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B9D0BE01-A17F-B978-77C6-C707140BD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25" y="3421625"/>
            <a:ext cx="1092201" cy="443375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0AEC08F-D973-796F-23A2-DD34866EA1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" y="795337"/>
            <a:ext cx="1377950" cy="189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241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14621</TotalTime>
  <Words>251</Words>
  <Application>Microsoft Office PowerPoint</Application>
  <PresentationFormat>On-screen Show (16:9)</PresentationFormat>
  <Paragraphs>26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Akash Gaikwad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Lenin Nair VJ</dc:creator>
  <cp:lastModifiedBy>Akash Petkar</cp:lastModifiedBy>
  <cp:revision>1083</cp:revision>
  <dcterms:created xsi:type="dcterms:W3CDTF">2006-08-16T00:00:00Z</dcterms:created>
  <dcterms:modified xsi:type="dcterms:W3CDTF">2022-04-25T10:28:51Z</dcterms:modified>
</cp:coreProperties>
</file>